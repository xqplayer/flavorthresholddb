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30c8f2bde64f13" /><Relationship Type="http://schemas.openxmlformats.org/officeDocument/2006/relationships/extended-properties" Target="/docProps/app.xml" Id="Raf4aeaaacac045fd" /><Relationship Type="http://schemas.openxmlformats.org/officeDocument/2006/relationships/officeDocument" Target="/ppt/presentation.xml" Id="Rbdd9ddde382042eb" /></Relationships>
</file>

<file path=ppt/presentation.xml><?xml version="1.0" encoding="utf-8"?>
<p:presentation xmlns:p="http://schemas.openxmlformats.org/presentationml/2006/main">
  <p:sldMasterIdLst>
    <p:sldMasterId xmlns:r="http://schemas.openxmlformats.org/officeDocument/2006/relationships" id="2147483648" r:id="R220570334c6f485f"/>
  </p:sldMasterIdLst>
  <p:notesMasterIdLst>
    <p:notesMasterId xmlns:r="http://schemas.openxmlformats.org/officeDocument/2006/relationships" r:id="R6ec4d16438a74c42"/>
  </p:notesMasterIdLst>
  <p:sldIdLst>
    <p:sldId xmlns:r="http://schemas.openxmlformats.org/officeDocument/2006/relationships" id="256" r:id="R07f144cb0541476e"/>
    <p:sldId xmlns:r="http://schemas.openxmlformats.org/officeDocument/2006/relationships" id="257" r:id="R3ee5a2479375461f"/>
    <p:sldId xmlns:r="http://schemas.openxmlformats.org/officeDocument/2006/relationships" id="258" r:id="Rb309f26be79b48ad"/>
    <p:sldId xmlns:r="http://schemas.openxmlformats.org/officeDocument/2006/relationships" id="259" r:id="R8070ca7fe41041b4"/>
    <p:sldId xmlns:r="http://schemas.openxmlformats.org/officeDocument/2006/relationships" id="260" r:id="R597b827033da449b"/>
    <p:sldId xmlns:r="http://schemas.openxmlformats.org/officeDocument/2006/relationships" id="261" r:id="R49e9d77ca36b4ff2"/>
    <p:sldId xmlns:r="http://schemas.openxmlformats.org/officeDocument/2006/relationships" id="262" r:id="R06ea92310b7a4ee3"/>
    <p:sldId xmlns:r="http://schemas.openxmlformats.org/officeDocument/2006/relationships" id="263" r:id="Rc5a8ce2ee856410e"/>
    <p:sldId xmlns:r="http://schemas.openxmlformats.org/officeDocument/2006/relationships" id="264" r:id="Rdc0e63af98c744bc"/>
    <p:sldId xmlns:r="http://schemas.openxmlformats.org/officeDocument/2006/relationships" id="265" r:id="R7cd3bd2c7d4b4e7e"/>
    <p:sldId xmlns:r="http://schemas.openxmlformats.org/officeDocument/2006/relationships" id="266" r:id="R011c8d10b7a949e9"/>
    <p:sldId xmlns:r="http://schemas.openxmlformats.org/officeDocument/2006/relationships" id="267" r:id="R4b0616abe1d940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2034b7dd2a46e2" /><Relationship Type="http://schemas.openxmlformats.org/officeDocument/2006/relationships/slideMaster" Target="/ppt/slideMasters/slideMaster1.xml" Id="R220570334c6f485f" /><Relationship Type="http://schemas.openxmlformats.org/officeDocument/2006/relationships/notesMaster" Target="/ppt/notesMasters/notesMaster1.xml" Id="R6ec4d16438a74c42" /><Relationship Type="http://schemas.openxmlformats.org/officeDocument/2006/relationships/presProps" Target="/ppt/presProps.xml" Id="R47453459d1f24d73" /><Relationship Type="http://schemas.openxmlformats.org/officeDocument/2006/relationships/tableStyles" Target="/ppt/tableStyles.xml" Id="R1c7e5402404d4793" /><Relationship Type="http://schemas.openxmlformats.org/officeDocument/2006/relationships/slide" Target="/ppt/slides/slide1.xml" Id="R07f144cb0541476e" /><Relationship Type="http://schemas.openxmlformats.org/officeDocument/2006/relationships/slide" Target="/ppt/slides/slide2.xml" Id="R3ee5a2479375461f" /><Relationship Type="http://schemas.openxmlformats.org/officeDocument/2006/relationships/slide" Target="/ppt/slides/slide3.xml" Id="Rb309f26be79b48ad" /><Relationship Type="http://schemas.openxmlformats.org/officeDocument/2006/relationships/slide" Target="/ppt/slides/slide4.xml" Id="R8070ca7fe41041b4" /><Relationship Type="http://schemas.openxmlformats.org/officeDocument/2006/relationships/slide" Target="/ppt/slides/slide5.xml" Id="R597b827033da449b" /><Relationship Type="http://schemas.openxmlformats.org/officeDocument/2006/relationships/slide" Target="/ppt/slides/slide6.xml" Id="R49e9d77ca36b4ff2" /><Relationship Type="http://schemas.openxmlformats.org/officeDocument/2006/relationships/slide" Target="/ppt/slides/slide7.xml" Id="R06ea92310b7a4ee3" /><Relationship Type="http://schemas.openxmlformats.org/officeDocument/2006/relationships/slide" Target="/ppt/slides/slide8.xml" Id="Rc5a8ce2ee856410e" /><Relationship Type="http://schemas.openxmlformats.org/officeDocument/2006/relationships/slide" Target="/ppt/slides/slide9.xml" Id="Rdc0e63af98c744bc" /><Relationship Type="http://schemas.openxmlformats.org/officeDocument/2006/relationships/slide" Target="/ppt/slides/slide10.xml" Id="R7cd3bd2c7d4b4e7e" /><Relationship Type="http://schemas.openxmlformats.org/officeDocument/2006/relationships/slide" Target="/ppt/slides/slide11.xml" Id="R011c8d10b7a949e9" /><Relationship Type="http://schemas.openxmlformats.org/officeDocument/2006/relationships/slide" Target="/ppt/slides/slide12.xml" Id="R4b0616abe1d940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0c5f51b6e042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97001d12d14744" /><Relationship Type="http://schemas.openxmlformats.org/officeDocument/2006/relationships/notesMaster" Target="/ppt/notesMasters/notesMaster1.xml" Id="R63d984dcc0f8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21fc961b25436f" /><Relationship Type="http://schemas.openxmlformats.org/officeDocument/2006/relationships/notesMaster" Target="/ppt/notesMasters/notesMaster1.xml" Id="R125443f3990149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95e73cc54c4bbe" /><Relationship Type="http://schemas.openxmlformats.org/officeDocument/2006/relationships/notesMaster" Target="/ppt/notesMasters/notesMaster1.xml" Id="Rdec451b672d543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7976f5b8b04601" /><Relationship Type="http://schemas.openxmlformats.org/officeDocument/2006/relationships/notesMaster" Target="/ppt/notesMasters/notesMaster1.xml" Id="Rcfac3dc0e29541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6189ab72814bf6" /><Relationship Type="http://schemas.openxmlformats.org/officeDocument/2006/relationships/notesMaster" Target="/ppt/notesMasters/notesMaster1.xml" Id="R73ea4a8511784c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14b83b558f43d0" /><Relationship Type="http://schemas.openxmlformats.org/officeDocument/2006/relationships/notesMaster" Target="/ppt/notesMasters/notesMaster1.xml" Id="R11541703066b46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18b2c3c5a74bd2" /><Relationship Type="http://schemas.openxmlformats.org/officeDocument/2006/relationships/notesMaster" Target="/ppt/notesMasters/notesMaster1.xml" Id="R88f4fe1e20244b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5145f2526349dd" /><Relationship Type="http://schemas.openxmlformats.org/officeDocument/2006/relationships/notesMaster" Target="/ppt/notesMasters/notesMaster1.xml" Id="R5acfcd70356240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a3c4eeb70d4233" /><Relationship Type="http://schemas.openxmlformats.org/officeDocument/2006/relationships/notesMaster" Target="/ppt/notesMasters/notesMaster1.xml" Id="R6e9a948d47ac46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f35ff3a5bc429c" /><Relationship Type="http://schemas.openxmlformats.org/officeDocument/2006/relationships/notesMaster" Target="/ppt/notesMasters/notesMaster1.xml" Id="Rdc08257e53cc45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88d461ae8f4184" /><Relationship Type="http://schemas.openxmlformats.org/officeDocument/2006/relationships/notesMaster" Target="/ppt/notesMasters/notesMaster1.xml" Id="R4646faf4c33547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18b87dabbf42cf" /><Relationship Type="http://schemas.openxmlformats.org/officeDocument/2006/relationships/notesMaster" Target="/ppt/notesMasters/notesMaster1.xml" Id="Rc4340ec4bbbe49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本页用于说明项目已从本地阈值查询工具发展为面向风味化学研究的多源数据平台。</a:t>
            </a:r>
          </a:p>
          <a:p xmlns:a="http://schemas.openxmlformats.org/drawingml/2006/main">
            <a:r>
              <a:t/>
            </a:r>
          </a:p>
          <a:p xmlns:a="http://schemas.openxmlformats.org/drawingml/2006/main">
            <a:r>
              <a:t>[Sources]</a:t>
            </a:r>
          </a:p>
          <a:p xmlns:a="http://schemas.openxmlformats.org/drawingml/2006/main">
            <a:r>
              <a:t>- E:/codex/FlavorThresholdDB/PROJECT_HISTORY.md</a:t>
            </a:r>
          </a:p>
          <a:p xmlns:a="http://schemas.openxmlformats.org/drawingml/2006/main">
            <a:r>
              <a:t>- Local screenshot: FlavorThresholdDB home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先说明项目解决的科研问题：阈值不是脱离介质、类型和来源的单一数字。</a:t>
            </a:r>
          </a:p>
          <a:p xmlns:a="http://schemas.openxmlformats.org/drawingml/2006/main">
            <a:r>
              <a:t/>
            </a:r>
          </a:p>
          <a:p xmlns:a="http://schemas.openxmlformats.org/drawingml/2006/main">
            <a:r>
              <a:t>[Sources]</a:t>
            </a:r>
          </a:p>
          <a:p xmlns:a="http://schemas.openxmlformats.org/drawingml/2006/main">
            <a:r>
              <a:t>- E:/codex/FlavorThresholdDB/PROJECT_HISTORY.md sections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按能力演进解释，不把独立的 Thermo 数据处理流程计入产品研发阶段。</a:t>
            </a:r>
          </a:p>
          <a:p xmlns:a="http://schemas.openxmlformats.org/drawingml/2006/main">
            <a:r>
              <a:t/>
            </a:r>
          </a:p>
          <a:p xmlns:a="http://schemas.openxmlformats.org/drawingml/2006/main">
            <a:r>
              <a:t>[Sources]</a:t>
            </a:r>
          </a:p>
          <a:p xmlns:a="http://schemas.openxmlformats.org/drawingml/2006/main">
            <a:r>
              <a:t>- Git history in E:/codex/FlavorThresholdDB</a:t>
            </a:r>
          </a:p>
          <a:p xmlns:a="http://schemas.openxmlformats.org/drawingml/2006/main">
            <a:r>
              <a:t>- E:/codex/FlavorThresholdDB/PROJECT_HISTORY.md sections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说明检索页默认保持简洁，筛选条件用于控制页面结果和导出范围。</a:t>
            </a:r>
          </a:p>
          <a:p xmlns:a="http://schemas.openxmlformats.org/drawingml/2006/main">
            <a:r>
              <a:t/>
            </a:r>
          </a:p>
          <a:p xmlns:a="http://schemas.openxmlformats.org/drawingml/2006/main">
            <a:r>
              <a:t>[Sources]</a:t>
            </a:r>
          </a:p>
          <a:p xmlns:a="http://schemas.openxmlformats.org/drawingml/2006/main">
            <a:r>
              <a:t>- Local screenshot: search workbench</a:t>
            </a:r>
          </a:p>
          <a:p xmlns:a="http://schemas.openxmlformats.org/drawingml/2006/main">
            <a:r>
              <a:t>- E:/codex/FlavorThresholdDB/frontend/src/App.jsx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以乙酸乙酯为例，说明档案头负责身份，后续模块负责来源与内容。</a:t>
            </a:r>
          </a:p>
          <a:p xmlns:a="http://schemas.openxmlformats.org/drawingml/2006/main">
            <a:r>
              <a:t/>
            </a:r>
          </a:p>
          <a:p xmlns:a="http://schemas.openxmlformats.org/drawingml/2006/main">
            <a:r>
              <a:t>[Sources]</a:t>
            </a:r>
          </a:p>
          <a:p xmlns:a="http://schemas.openxmlformats.org/drawingml/2006/main">
            <a:r>
              <a:t>- Local screenshot: compound profile for CAS 141-78-6</a:t>
            </a:r>
          </a:p>
          <a:p xmlns:a="http://schemas.openxmlformats.org/drawingml/2006/main">
            <a:r>
              <a:t>- E:/codex/FlavorThresholdDB/frontend/src/App.jsx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强调多源并不等于混合：每个来源负责不同信息类型，并保留出处。</a:t>
            </a:r>
          </a:p>
          <a:p xmlns:a="http://schemas.openxmlformats.org/drawingml/2006/main">
            <a:r>
              <a:t/>
            </a:r>
          </a:p>
          <a:p xmlns:a="http://schemas.openxmlformats.org/drawingml/2006/main">
            <a:r>
              <a:t>[Sources]</a:t>
            </a:r>
          </a:p>
          <a:p xmlns:a="http://schemas.openxmlformats.org/drawingml/2006/main">
            <a:r>
              <a:t>- E:/codex/FlavorThresholdDB/README.md Data sources</a:t>
            </a:r>
          </a:p>
          <a:p xmlns:a="http://schemas.openxmlformats.org/drawingml/2006/main">
            <a:r>
              <a:t>- E:/codex/FlavorThresholdDB/PROJECT_HISTORY.md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演示结构查看和分类用途，避免把官能团列表误解为唯一化合物分类。</a:t>
            </a:r>
          </a:p>
          <a:p xmlns:a="http://schemas.openxmlformats.org/drawingml/2006/main">
            <a:r>
              <a:t/>
            </a:r>
          </a:p>
          <a:p xmlns:a="http://schemas.openxmlformats.org/drawingml/2006/main">
            <a:r>
              <a:t>[Sources]</a:t>
            </a:r>
          </a:p>
          <a:p xmlns:a="http://schemas.openxmlformats.org/drawingml/2006/main">
            <a:r>
              <a:t>- Local screenshot: chemical identity module</a:t>
            </a:r>
          </a:p>
          <a:p xmlns:a="http://schemas.openxmlformats.org/drawingml/2006/main">
            <a:r>
              <a:t>- PubChem PUG REST</a:t>
            </a:r>
          </a:p>
          <a:p xmlns:a="http://schemas.openxmlformats.org/drawingml/2006/main">
            <a:r>
              <a:t>- RDKit SMARTS classification in frontend/src/lib/compoundClassification.js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排序只影响默认显示顺序，不会删除其他阈值记录。</a:t>
            </a:r>
          </a:p>
          <a:p xmlns:a="http://schemas.openxmlformats.org/drawingml/2006/main">
            <a:r>
              <a:t/>
            </a:r>
          </a:p>
          <a:p xmlns:a="http://schemas.openxmlformats.org/drawingml/2006/main">
            <a:r>
              <a:t>[Sources]</a:t>
            </a:r>
          </a:p>
          <a:p xmlns:a="http://schemas.openxmlformats.org/drawingml/2006/main">
            <a:r>
              <a:t>- E:/codex/FlavorThresholdDB/README.md Version 1.3.0</a:t>
            </a:r>
          </a:p>
          <a:p xmlns:a="http://schemas.openxmlformats.org/drawingml/2006/main">
            <a:r>
              <a:t>- E:/codex/FlavorThresholdDB/PROJECT_HISTORY.md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说明统计用于改善检索体验，不作为化学证据来源。</a:t>
            </a:r>
          </a:p>
          <a:p xmlns:a="http://schemas.openxmlformats.org/drawingml/2006/main">
            <a:r>
              <a:t/>
            </a:r>
          </a:p>
          <a:p xmlns:a="http://schemas.openxmlformats.org/drawingml/2006/main">
            <a:r>
              <a:t>[Sources]</a:t>
            </a:r>
          </a:p>
          <a:p xmlns:a="http://schemas.openxmlformats.org/drawingml/2006/main">
            <a:r>
              <a:t>- Supabase migrations in E:/codex/FlavorThresholdDB/supabase</a:t>
            </a:r>
          </a:p>
          <a:p xmlns:a="http://schemas.openxmlformats.org/drawingml/2006/main">
            <a:r>
              <a:t>- Local screenshot: home analytics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说明导出前应先确认介质、阈值类型和数据来源筛选。</a:t>
            </a:r>
          </a:p>
          <a:p xmlns:a="http://schemas.openxmlformats.org/drawingml/2006/main">
            <a:r>
              <a:t/>
            </a:r>
          </a:p>
          <a:p xmlns:a="http://schemas.openxmlformats.org/drawingml/2006/main">
            <a:r>
              <a:t>[Sources]</a:t>
            </a:r>
          </a:p>
          <a:p xmlns:a="http://schemas.openxmlformats.org/drawingml/2006/main">
            <a:r>
              <a:t>- Local screenshot: CSV export menu</a:t>
            </a:r>
          </a:p>
          <a:p xmlns:a="http://schemas.openxmlformats.org/drawingml/2006/main">
            <a:r>
              <a:t>- E:/codex/FlavorThresholdDB/README.md Version 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说明关闭本地服务不会影响公网访问，因为前端和 API 均有独立公网部署。</a:t>
            </a:r>
          </a:p>
          <a:p xmlns:a="http://schemas.openxmlformats.org/drawingml/2006/main">
            <a:r>
              <a:t/>
            </a:r>
          </a:p>
          <a:p xmlns:a="http://schemas.openxmlformats.org/drawingml/2006/main">
            <a:r>
              <a:t>[Sources]</a:t>
            </a:r>
          </a:p>
          <a:p xmlns:a="http://schemas.openxmlformats.org/drawingml/2006/main">
            <a:r>
              <a:t>- E:/codex/FlavorThresholdDB/README.md Public deployment</a:t>
            </a:r>
          </a:p>
          <a:p xmlns:a="http://schemas.openxmlformats.org/drawingml/2006/main">
            <a:r>
              <a:t>- E:/codex/FlavorThresholdDB/render.yaml</a:t>
            </a:r>
          </a:p>
          <a:p xmlns:a="http://schemas.openxmlformats.org/drawingml/2006/main">
            <a:r>
              <a:t>- E:/codex/FlavorThresholdDB/.github/workflows/deploy-pages.yml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收束到用户价值，并邀请观众进入网站完成自己的第一次检索。</a:t>
            </a:r>
          </a:p>
          <a:p xmlns:a="http://schemas.openxmlformats.org/drawingml/2006/main">
            <a:r>
              <a:t/>
            </a:r>
          </a:p>
          <a:p xmlns:a="http://schemas.openxmlformats.org/drawingml/2006/main">
            <a:r>
              <a:t>[Sources]</a:t>
            </a:r>
          </a:p>
          <a:p xmlns:a="http://schemas.openxmlformats.org/drawingml/2006/main">
            <a:r>
              <a:t>- E:/codex/FlavorThresholdDB/PROJECT_HISTORY.md</a:t>
            </a:r>
          </a:p>
          <a:p xmlns:a="http://schemas.openxmlformats.org/drawingml/2006/main">
            <a:r>
              <a:t>- https://xqplayer.github.io/FlavorThresholdDB/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99373f815f4d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745187b8e54da6" /><Relationship Type="http://schemas.openxmlformats.org/officeDocument/2006/relationships/slideLayout" Target="/ppt/slideLayouts/slideLayout1.xml" Id="R7526045af22b45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26045af22b45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09f88d8069489e" /><Relationship Type="http://schemas.openxmlformats.org/officeDocument/2006/relationships/image" Target="/ppt/media/image.png" Id="R75fe721bfbbe4512" /><Relationship Type="http://schemas.openxmlformats.org/officeDocument/2006/relationships/notesSlide" Target="/ppt/notesSlides/notesSlide1.xml" Id="R7bcb1e037ffc41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ad83a94e394f7a" /><Relationship Type="http://schemas.openxmlformats.org/officeDocument/2006/relationships/notesSlide" Target="/ppt/notesSlides/notesSlide2.xml" Id="R9b3cfe5331c44f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f25bd81e5c4026" /><Relationship Type="http://schemas.openxmlformats.org/officeDocument/2006/relationships/notesSlide" Target="/ppt/notesSlides/notesSlide3.xml" Id="R899e5991caf646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d537366a9446de" /><Relationship Type="http://schemas.openxmlformats.org/officeDocument/2006/relationships/image" Target="/ppt/media/image2.png" Id="Rc34297a3faa14643" /><Relationship Type="http://schemas.openxmlformats.org/officeDocument/2006/relationships/notesSlide" Target="/ppt/notesSlides/notesSlide4.xml" Id="Rbf5a8946dce54b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e25c055be34e4e" /><Relationship Type="http://schemas.openxmlformats.org/officeDocument/2006/relationships/image" Target="/ppt/media/image3.png" Id="R1457ebb6f42e45a7" /><Relationship Type="http://schemas.openxmlformats.org/officeDocument/2006/relationships/notesSlide" Target="/ppt/notesSlides/notesSlide5.xml" Id="R59b92d0e59d64c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ed2a9823344850" /><Relationship Type="http://schemas.openxmlformats.org/officeDocument/2006/relationships/notesSlide" Target="/ppt/notesSlides/notesSlide6.xml" Id="R71041924435a42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0f0108e52a4319" /><Relationship Type="http://schemas.openxmlformats.org/officeDocument/2006/relationships/image" Target="/ppt/media/image4.png" Id="R6fd6e1f8d5dc4d26" /><Relationship Type="http://schemas.openxmlformats.org/officeDocument/2006/relationships/notesSlide" Target="/ppt/notesSlides/notesSlide7.xml" Id="Rded7feb3150e4a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5f08ea374240d3" /><Relationship Type="http://schemas.openxmlformats.org/officeDocument/2006/relationships/notesSlide" Target="/ppt/notesSlides/notesSlide8.xml" Id="R5c94110d29dd46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6773a6b31d407c" /><Relationship Type="http://schemas.openxmlformats.org/officeDocument/2006/relationships/image" Target="/ppt/media/image5.png" Id="Ra6f07c12b6584446" /><Relationship Type="http://schemas.openxmlformats.org/officeDocument/2006/relationships/notesSlide" Target="/ppt/notesSlides/notesSlide9.xml" Id="R7753d71abded4a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b67f158b6541de" /><Relationship Type="http://schemas.openxmlformats.org/officeDocument/2006/relationships/image" Target="/ppt/media/image6.png" Id="R6074b95725fe4655" /><Relationship Type="http://schemas.openxmlformats.org/officeDocument/2006/relationships/notesSlide" Target="/ppt/notesSlides/notesSlide10.xml" Id="R3a92cac66d784c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e6b8d6e2a947c4" /><Relationship Type="http://schemas.openxmlformats.org/officeDocument/2006/relationships/notesSlide" Target="/ppt/notesSlides/notesSlide11.xml" Id="Re10f99faacc14c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44ef6f8e924cd2" /><Relationship Type="http://schemas.openxmlformats.org/officeDocument/2006/relationships/notesSlide" Target="/ppt/notesSlides/notesSlide12.xml" Id="Rf6c03e1aa98d47ab" /></Relationships>
</file>

<file path=ppt/slides/slide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5fe721bfbbe451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oundRect">
            <a:avLst>
              <a:gd name="adj" fmla="val 1667"/>
            </a:avLst>
          </a:prstGeom>
        </p:spPr>
      </p:pic>
      <p:sp>
        <p:nvSpPr>
          <p:cNvPr id="2" name="">
            <a:extLst xmlns:a="http://schemas.openxmlformats.org/drawingml/2006/main">
              <a:ext uri="{FF2B5EF4-FFF2-40B4-BE49-F238E27FC236}">
                <a16:creationId xmlns:a16="http://schemas.microsoft.com/office/drawing/2014/main" id="{0FC6DF4F-C862-4625-8754-0AB9145058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alpha val="9098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D89FF4-7122-46DE-82CD-C5C46A88CBD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200CCD-72A8-4830-9806-FCBEEA858C10}"/>
              </a:ext>
            </a:extLst>
          </p:cNvPr>
          <p:cNvSpPr>
            <a:spLocks xmlns:a="http://schemas.openxmlformats.org/drawingml/2006/main" noGrp="1"/>
          </p:cNvSpPr>
          <p:nvPr/>
        </p:nvSpPr>
        <p:spPr>
          <a:xfrm xmlns:a="http://schemas.openxmlformats.org/drawingml/2006/main">
            <a:off x="685800" y="1428750"/>
            <a:ext cx="819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0B1220"/>
                </a:solidFill>
                <a:latin typeface="Aptos Display"/>
                <a:ea typeface="Aptos Display"/>
                <a:cs typeface="Aptos Display"/>
              </a:defRPr>
            </a:pPr>
            <a:r>
              <a:rPr sz="4350" b="1">
                <a:solidFill>
                  <a:srgbClr val="0B1220"/>
                </a:solidFill>
                <a:latin typeface="Aptos Display"/>
                <a:ea typeface="Aptos Display"/>
                <a:cs typeface="Aptos Display"/>
              </a:rPr>
              <a:t>FlavorThresholdDB</a:t>
            </a:r>
          </a:p>
        </p:txBody>
      </p:sp>
      <p:sp>
        <p:nvSpPr>
          <p:cNvPr id="5" name="">
            <a:extLst xmlns:a="http://schemas.openxmlformats.org/drawingml/2006/main">
              <a:ext uri="{FF2B5EF4-FFF2-40B4-BE49-F238E27FC236}">
                <a16:creationId xmlns:a16="http://schemas.microsoft.com/office/drawing/2014/main" id="{B6500D2B-BE4B-4FE5-86A8-98981AA6E707}"/>
              </a:ext>
            </a:extLst>
          </p:cNvPr>
          <p:cNvSpPr>
            <a:spLocks xmlns:a="http://schemas.openxmlformats.org/drawingml/2006/main" noGrp="1"/>
          </p:cNvSpPr>
          <p:nvPr/>
        </p:nvSpPr>
        <p:spPr>
          <a:xfrm xmlns:a="http://schemas.openxmlformats.org/drawingml/2006/main">
            <a:off x="685800" y="2324100"/>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F62E8"/>
                </a:solidFill>
                <a:latin typeface="Microsoft YaHei"/>
                <a:ea typeface="Microsoft YaHei"/>
                <a:cs typeface="Microsoft YaHei"/>
              </a:defRPr>
            </a:pPr>
            <a:r>
              <a:rPr sz="2250" b="1">
                <a:solidFill>
                  <a:srgbClr val="2F62E8"/>
                </a:solidFill>
                <a:latin typeface="Microsoft YaHei"/>
                <a:ea typeface="Microsoft YaHei"/>
                <a:cs typeface="Microsoft YaHei"/>
              </a:rPr>
              <a:t>从香气阈值检索到多源化合物研究工作台</a:t>
            </a:r>
          </a:p>
        </p:txBody>
      </p:sp>
      <p:sp>
        <p:nvSpPr>
          <p:cNvPr id="6" name="">
            <a:extLst xmlns:a="http://schemas.openxmlformats.org/drawingml/2006/main">
              <a:ext uri="{FF2B5EF4-FFF2-40B4-BE49-F238E27FC236}">
                <a16:creationId xmlns:a16="http://schemas.microsoft.com/office/drawing/2014/main" id="{3825397A-D8FC-488E-92FD-A7A5EADCC2EB}"/>
              </a:ext>
            </a:extLst>
          </p:cNvPr>
          <p:cNvSpPr>
            <a:spLocks xmlns:a="http://schemas.openxmlformats.org/drawingml/2006/main" noGrp="1"/>
          </p:cNvSpPr>
          <p:nvPr/>
        </p:nvSpPr>
        <p:spPr>
          <a:xfrm xmlns:a="http://schemas.openxmlformats.org/drawingml/2006/main">
            <a:off x="714375" y="30480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66758D"/>
                </a:solidFill>
                <a:latin typeface="Microsoft YaHei"/>
                <a:ea typeface="Microsoft YaHei"/>
                <a:cs typeface="Microsoft YaHei"/>
              </a:defRPr>
            </a:pPr>
            <a:r>
              <a:rPr sz="1500" b="0">
                <a:solidFill>
                  <a:srgbClr val="66758D"/>
                </a:solidFill>
                <a:latin typeface="Microsoft YaHei"/>
                <a:ea typeface="Microsoft YaHei"/>
                <a:cs typeface="Microsoft YaHei"/>
              </a:rPr>
              <a:t>项目开发历程 · 核心能力 · 技术架构</a:t>
            </a:r>
          </a:p>
        </p:txBody>
      </p:sp>
      <p:sp>
        <p:nvSpPr>
          <p:cNvPr id="7" name="">
            <a:extLst xmlns:a="http://schemas.openxmlformats.org/drawingml/2006/main">
              <a:ext uri="{FF2B5EF4-FFF2-40B4-BE49-F238E27FC236}">
                <a16:creationId xmlns:a16="http://schemas.microsoft.com/office/drawing/2014/main" id="{E9FCCC0F-D55D-4F9E-AC5A-66717D4AF072}"/>
              </a:ext>
            </a:extLst>
          </p:cNvPr>
          <p:cNvSpPr>
            <a:spLocks xmlns:a="http://schemas.openxmlformats.org/drawingml/2006/main" noGrp="1"/>
          </p:cNvSpPr>
          <p:nvPr/>
        </p:nvSpPr>
        <p:spPr>
          <a:xfrm xmlns:a="http://schemas.openxmlformats.org/drawingml/2006/main">
            <a:off x="685800" y="4048125"/>
            <a:ext cx="4000500" cy="781050"/>
          </a:xfrm>
          <a:prstGeom xmlns:a="http://schemas.openxmlformats.org/drawingml/2006/main" prst="roundRect">
            <a:avLst>
              <a:gd name="adj" fmla="val 14634"/>
            </a:avLst>
          </a:prstGeom>
          <a:solidFill xmlns:a="http://schemas.openxmlformats.org/drawingml/2006/main">
            <a:srgbClr val="0B122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8D11B9-8EB6-4356-AF9C-726255789D6D}"/>
              </a:ext>
            </a:extLst>
          </p:cNvPr>
          <p:cNvSpPr>
            <a:spLocks xmlns:a="http://schemas.openxmlformats.org/drawingml/2006/main" noGrp="1"/>
          </p:cNvSpPr>
          <p:nvPr/>
        </p:nvSpPr>
        <p:spPr>
          <a:xfrm xmlns:a="http://schemas.openxmlformats.org/drawingml/2006/main">
            <a:off x="914400" y="418147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v1.3.1</a:t>
            </a:r>
          </a:p>
        </p:txBody>
      </p:sp>
      <p:sp>
        <p:nvSpPr>
          <p:cNvPr id="9" name="">
            <a:extLst xmlns:a="http://schemas.openxmlformats.org/drawingml/2006/main">
              <a:ext uri="{FF2B5EF4-FFF2-40B4-BE49-F238E27FC236}">
                <a16:creationId xmlns:a16="http://schemas.microsoft.com/office/drawing/2014/main" id="{8FF787B4-369F-4A19-B575-A168BD7540D7}"/>
              </a:ext>
            </a:extLst>
          </p:cNvPr>
          <p:cNvSpPr>
            <a:spLocks xmlns:a="http://schemas.openxmlformats.org/drawingml/2006/main" noGrp="1"/>
          </p:cNvSpPr>
          <p:nvPr/>
        </p:nvSpPr>
        <p:spPr>
          <a:xfrm xmlns:a="http://schemas.openxmlformats.org/drawingml/2006/main">
            <a:off x="914400" y="446722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C9D5E8"/>
                </a:solidFill>
                <a:latin typeface="Microsoft YaHei"/>
                <a:ea typeface="Microsoft YaHei"/>
                <a:cs typeface="Microsoft YaHei"/>
              </a:defRPr>
            </a:pPr>
            <a:r>
              <a:rPr sz="1200" b="0">
                <a:solidFill>
                  <a:srgbClr val="C9D5E8"/>
                </a:solidFill>
                <a:latin typeface="Microsoft YaHei"/>
                <a:ea typeface="Microsoft YaHei"/>
                <a:cs typeface="Microsoft YaHei"/>
              </a:rPr>
              <a:t>可追溯 · 多来源 · 可导出</a:t>
            </a:r>
          </a:p>
        </p:txBody>
      </p:sp>
      <p:sp>
        <p:nvSpPr>
          <p:cNvPr id="10" name="">
            <a:extLst xmlns:a="http://schemas.openxmlformats.org/drawingml/2006/main">
              <a:ext uri="{FF2B5EF4-FFF2-40B4-BE49-F238E27FC236}">
                <a16:creationId xmlns:a16="http://schemas.microsoft.com/office/drawing/2014/main" id="{68CEEBD4-7DC6-421E-9B4A-9C04DB70A5D2}"/>
              </a:ext>
            </a:extLst>
          </p:cNvPr>
          <p:cNvSpPr>
            <a:spLocks xmlns:a="http://schemas.openxmlformats.org/drawingml/2006/main" noGrp="1"/>
          </p:cNvSpPr>
          <p:nvPr/>
        </p:nvSpPr>
        <p:spPr>
          <a:xfrm xmlns:a="http://schemas.openxmlformats.org/drawingml/2006/main">
            <a:off x="685800" y="61436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6758D"/>
                </a:solidFill>
                <a:latin typeface="Aptos Display"/>
                <a:ea typeface="Aptos Display"/>
                <a:cs typeface="Aptos Display"/>
              </a:defRPr>
            </a:pPr>
            <a:r>
              <a:rPr sz="1200" b="1">
                <a:solidFill>
                  <a:srgbClr val="66758D"/>
                </a:solidFill>
                <a:latin typeface="Aptos Display"/>
                <a:ea typeface="Aptos Display"/>
                <a:cs typeface="Aptos Display"/>
              </a:rPr>
              <a:t>HXQLab</a:t>
            </a:r>
          </a:p>
        </p:txBody>
      </p:sp>
    </p:spTree>
    <p:extLst>
      <p:ext uri="{BB962C8B-B14F-4D97-AF65-F5344CB8AC3E}">
        <p14:creationId xmlns:p14="http://schemas.microsoft.com/office/powerpoint/2010/main" val="955469199"/>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175E0AF-6735-4A27-B3B1-D40148EEE3B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8B6457-0295-4C18-ACE2-D594934A143A}"/>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RESEARCH PROBLEM</a:t>
            </a:r>
          </a:p>
        </p:txBody>
      </p:sp>
      <p:sp>
        <p:nvSpPr>
          <p:cNvPr id="3" name="">
            <a:extLst xmlns:a="http://schemas.openxmlformats.org/drawingml/2006/main">
              <a:ext uri="{FF2B5EF4-FFF2-40B4-BE49-F238E27FC236}">
                <a16:creationId xmlns:a16="http://schemas.microsoft.com/office/drawing/2014/main" id="{878774B6-C163-49A1-B921-51E4964559AE}"/>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真正困难的不是“找到一个数”，而是保留它的语境</a:t>
            </a:r>
          </a:p>
        </p:txBody>
      </p:sp>
      <p:sp>
        <p:nvSpPr>
          <p:cNvPr id="4" name="">
            <a:extLst xmlns:a="http://schemas.openxmlformats.org/drawingml/2006/main">
              <a:ext uri="{FF2B5EF4-FFF2-40B4-BE49-F238E27FC236}">
                <a16:creationId xmlns:a16="http://schemas.microsoft.com/office/drawing/2014/main" id="{A88E49D5-BC7F-4285-BB9A-B9E23E6EBE25}"/>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02</a:t>
            </a:r>
          </a:p>
        </p:txBody>
      </p:sp>
      <p:sp>
        <p:nvSpPr>
          <p:cNvPr id="5" name="">
            <a:extLst xmlns:a="http://schemas.openxmlformats.org/drawingml/2006/main">
              <a:ext uri="{FF2B5EF4-FFF2-40B4-BE49-F238E27FC236}">
                <a16:creationId xmlns:a16="http://schemas.microsoft.com/office/drawing/2014/main" id="{0C8999F8-01A8-4F9A-9B58-316C7308C541}"/>
              </a:ext>
            </a:extLst>
          </p:cNvPr>
          <p:cNvSpPr>
            <a:spLocks xmlns:a="http://schemas.openxmlformats.org/drawingml/2006/main" noGrp="1"/>
          </p:cNvSpPr>
          <p:nvPr/>
        </p:nvSpPr>
        <p:spPr>
          <a:xfrm xmlns:a="http://schemas.openxmlformats.org/drawingml/2006/main">
            <a:off x="704850" y="157162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F62E8"/>
                </a:solidFill>
                <a:latin typeface="Aptos Display"/>
                <a:ea typeface="Aptos Display"/>
                <a:cs typeface="Aptos Display"/>
              </a:defRPr>
            </a:pPr>
            <a:r>
              <a:rPr sz="2100" b="1">
                <a:solidFill>
                  <a:srgbClr val="2F62E8"/>
                </a:solidFill>
                <a:latin typeface="Aptos Display"/>
                <a:ea typeface="Aptos Display"/>
                <a:cs typeface="Aptos Display"/>
              </a:rPr>
              <a:t>01</a:t>
            </a:r>
          </a:p>
        </p:txBody>
      </p:sp>
      <p:sp>
        <p:nvSpPr>
          <p:cNvPr id="6" name="">
            <a:extLst xmlns:a="http://schemas.openxmlformats.org/drawingml/2006/main">
              <a:ext uri="{FF2B5EF4-FFF2-40B4-BE49-F238E27FC236}">
                <a16:creationId xmlns:a16="http://schemas.microsoft.com/office/drawing/2014/main" id="{B35B078E-1D07-402A-A8F4-25F274AFE403}"/>
              </a:ext>
            </a:extLst>
          </p:cNvPr>
          <p:cNvSpPr>
            <a:spLocks xmlns:a="http://schemas.openxmlformats.org/drawingml/2006/main" noGrp="1"/>
          </p:cNvSpPr>
          <p:nvPr/>
        </p:nvSpPr>
        <p:spPr>
          <a:xfrm xmlns:a="http://schemas.openxmlformats.org/drawingml/2006/main">
            <a:off x="1476375" y="155257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阈值依赖介质</a:t>
            </a:r>
          </a:p>
        </p:txBody>
      </p:sp>
      <p:sp>
        <p:nvSpPr>
          <p:cNvPr id="7" name="">
            <a:extLst xmlns:a="http://schemas.openxmlformats.org/drawingml/2006/main">
              <a:ext uri="{FF2B5EF4-FFF2-40B4-BE49-F238E27FC236}">
                <a16:creationId xmlns:a16="http://schemas.microsoft.com/office/drawing/2014/main" id="{549DC899-651C-4198-9A6E-AF3672B7D437}"/>
              </a:ext>
            </a:extLst>
          </p:cNvPr>
          <p:cNvSpPr>
            <a:spLocks xmlns:a="http://schemas.openxmlformats.org/drawingml/2006/main" noGrp="1"/>
          </p:cNvSpPr>
          <p:nvPr/>
        </p:nvSpPr>
        <p:spPr>
          <a:xfrm xmlns:a="http://schemas.openxmlformats.org/drawingml/2006/main">
            <a:off x="1476375" y="1971675"/>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空气、水、酒精体系与食品基质中的数值不可直接混用。</a:t>
            </a:r>
          </a:p>
        </p:txBody>
      </p:sp>
      <p:sp>
        <p:nvSpPr>
          <p:cNvPr id="8" name="">
            <a:extLst xmlns:a="http://schemas.openxmlformats.org/drawingml/2006/main">
              <a:ext uri="{FF2B5EF4-FFF2-40B4-BE49-F238E27FC236}">
                <a16:creationId xmlns:a16="http://schemas.microsoft.com/office/drawing/2014/main" id="{F7F01C6D-EF2D-4D4C-AD35-5B1F68CF36E2}"/>
              </a:ext>
            </a:extLst>
          </p:cNvPr>
          <p:cNvSpPr>
            <a:spLocks xmlns:a="http://schemas.openxmlformats.org/drawingml/2006/main" noGrp="1"/>
          </p:cNvSpPr>
          <p:nvPr/>
        </p:nvSpPr>
        <p:spPr>
          <a:xfrm xmlns:a="http://schemas.openxmlformats.org/drawingml/2006/main">
            <a:off x="704850" y="2952750"/>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F62E8"/>
                </a:solidFill>
                <a:latin typeface="Aptos Display"/>
                <a:ea typeface="Aptos Display"/>
                <a:cs typeface="Aptos Display"/>
              </a:defRPr>
            </a:pPr>
            <a:r>
              <a:rPr sz="2100" b="1">
                <a:solidFill>
                  <a:srgbClr val="2F62E8"/>
                </a:solidFill>
                <a:latin typeface="Aptos Display"/>
                <a:ea typeface="Aptos Display"/>
                <a:cs typeface="Aptos Display"/>
              </a:rPr>
              <a:t>02</a:t>
            </a:r>
          </a:p>
        </p:txBody>
      </p:sp>
      <p:sp>
        <p:nvSpPr>
          <p:cNvPr id="9" name="">
            <a:extLst xmlns:a="http://schemas.openxmlformats.org/drawingml/2006/main">
              <a:ext uri="{FF2B5EF4-FFF2-40B4-BE49-F238E27FC236}">
                <a16:creationId xmlns:a16="http://schemas.microsoft.com/office/drawing/2014/main" id="{FA043FE4-54B8-4B5D-B26B-DDB77E9F83A1}"/>
              </a:ext>
            </a:extLst>
          </p:cNvPr>
          <p:cNvSpPr>
            <a:spLocks xmlns:a="http://schemas.openxmlformats.org/drawingml/2006/main" noGrp="1"/>
          </p:cNvSpPr>
          <p:nvPr/>
        </p:nvSpPr>
        <p:spPr>
          <a:xfrm xmlns:a="http://schemas.openxmlformats.org/drawingml/2006/main">
            <a:off x="1476375" y="29337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记录依赖定义</a:t>
            </a:r>
          </a:p>
        </p:txBody>
      </p:sp>
      <p:sp>
        <p:nvSpPr>
          <p:cNvPr id="10" name="">
            <a:extLst xmlns:a="http://schemas.openxmlformats.org/drawingml/2006/main">
              <a:ext uri="{FF2B5EF4-FFF2-40B4-BE49-F238E27FC236}">
                <a16:creationId xmlns:a16="http://schemas.microsoft.com/office/drawing/2014/main" id="{01D38D4F-1DA5-4BA2-86B6-1FDD808D5ADD}"/>
              </a:ext>
            </a:extLst>
          </p:cNvPr>
          <p:cNvSpPr>
            <a:spLocks xmlns:a="http://schemas.openxmlformats.org/drawingml/2006/main" noGrp="1"/>
          </p:cNvSpPr>
          <p:nvPr/>
        </p:nvSpPr>
        <p:spPr>
          <a:xfrm xmlns:a="http://schemas.openxmlformats.org/drawingml/2006/main">
            <a:off x="1476375" y="3352800"/>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觉察阈与识别阈反映不同感知层级。</a:t>
            </a:r>
          </a:p>
        </p:txBody>
      </p:sp>
      <p:sp>
        <p:nvSpPr>
          <p:cNvPr id="11" name="">
            <a:extLst xmlns:a="http://schemas.openxmlformats.org/drawingml/2006/main">
              <a:ext uri="{FF2B5EF4-FFF2-40B4-BE49-F238E27FC236}">
                <a16:creationId xmlns:a16="http://schemas.microsoft.com/office/drawing/2014/main" id="{B9720A2E-B3B2-459A-972F-2E4769F60867}"/>
              </a:ext>
            </a:extLst>
          </p:cNvPr>
          <p:cNvSpPr>
            <a:spLocks xmlns:a="http://schemas.openxmlformats.org/drawingml/2006/main" noGrp="1"/>
          </p:cNvSpPr>
          <p:nvPr/>
        </p:nvSpPr>
        <p:spPr>
          <a:xfrm xmlns:a="http://schemas.openxmlformats.org/drawingml/2006/main">
            <a:off x="704850" y="4333875"/>
            <a:ext cx="66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F62E8"/>
                </a:solidFill>
                <a:latin typeface="Aptos Display"/>
                <a:ea typeface="Aptos Display"/>
                <a:cs typeface="Aptos Display"/>
              </a:defRPr>
            </a:pPr>
            <a:r>
              <a:rPr sz="2100" b="1">
                <a:solidFill>
                  <a:srgbClr val="2F62E8"/>
                </a:solidFill>
                <a:latin typeface="Aptos Display"/>
                <a:ea typeface="Aptos Display"/>
                <a:cs typeface="Aptos Display"/>
              </a:rPr>
              <a:t>03</a:t>
            </a:r>
          </a:p>
        </p:txBody>
      </p:sp>
      <p:sp>
        <p:nvSpPr>
          <p:cNvPr id="12" name="">
            <a:extLst xmlns:a="http://schemas.openxmlformats.org/drawingml/2006/main">
              <a:ext uri="{FF2B5EF4-FFF2-40B4-BE49-F238E27FC236}">
                <a16:creationId xmlns:a16="http://schemas.microsoft.com/office/drawing/2014/main" id="{858520E5-2A95-418F-AD3E-78E980B88C0F}"/>
              </a:ext>
            </a:extLst>
          </p:cNvPr>
          <p:cNvSpPr>
            <a:spLocks xmlns:a="http://schemas.openxmlformats.org/drawingml/2006/main" noGrp="1"/>
          </p:cNvSpPr>
          <p:nvPr/>
        </p:nvSpPr>
        <p:spPr>
          <a:xfrm xmlns:a="http://schemas.openxmlformats.org/drawingml/2006/main">
            <a:off x="1476375" y="43148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结论依赖来源</a:t>
            </a:r>
          </a:p>
        </p:txBody>
      </p:sp>
      <p:sp>
        <p:nvSpPr>
          <p:cNvPr id="13" name="">
            <a:extLst xmlns:a="http://schemas.openxmlformats.org/drawingml/2006/main">
              <a:ext uri="{FF2B5EF4-FFF2-40B4-BE49-F238E27FC236}">
                <a16:creationId xmlns:a16="http://schemas.microsoft.com/office/drawing/2014/main" id="{1EA0B163-8370-4F38-845C-537EA063585D}"/>
              </a:ext>
            </a:extLst>
          </p:cNvPr>
          <p:cNvSpPr>
            <a:spLocks xmlns:a="http://schemas.openxmlformats.org/drawingml/2006/main" noGrp="1"/>
          </p:cNvSpPr>
          <p:nvPr/>
        </p:nvSpPr>
        <p:spPr>
          <a:xfrm xmlns:a="http://schemas.openxmlformats.org/drawingml/2006/main">
            <a:off x="1476375" y="4733925"/>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文献年份、单位、页码和原始记录决定可否复核。</a:t>
            </a:r>
          </a:p>
        </p:txBody>
      </p:sp>
      <p:sp>
        <p:nvSpPr>
          <p:cNvPr id="14" name="">
            <a:extLst xmlns:a="http://schemas.openxmlformats.org/drawingml/2006/main">
              <a:ext uri="{FF2B5EF4-FFF2-40B4-BE49-F238E27FC236}">
                <a16:creationId xmlns:a16="http://schemas.microsoft.com/office/drawing/2014/main" id="{C3D4F93A-F867-48A4-8A53-66073C1E0924}"/>
              </a:ext>
            </a:extLst>
          </p:cNvPr>
          <p:cNvSpPr>
            <a:spLocks xmlns:a="http://schemas.openxmlformats.org/drawingml/2006/main" noGrp="1"/>
          </p:cNvSpPr>
          <p:nvPr/>
        </p:nvSpPr>
        <p:spPr>
          <a:xfrm xmlns:a="http://schemas.openxmlformats.org/drawingml/2006/main">
            <a:off x="6715125" y="1524000"/>
            <a:ext cx="4762500" cy="3733800"/>
          </a:xfrm>
          <a:prstGeom xmlns:a="http://schemas.openxmlformats.org/drawingml/2006/main" prst="roundRect">
            <a:avLst>
              <a:gd name="adj" fmla="val 4082"/>
            </a:avLst>
          </a:prstGeom>
          <a:solidFill xmlns:a="http://schemas.openxmlformats.org/drawingml/2006/main">
            <a:srgbClr val="0B122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8F31CB4-4559-4B7D-B369-C9BAA20B18D0}"/>
              </a:ext>
            </a:extLst>
          </p:cNvPr>
          <p:cNvSpPr>
            <a:spLocks xmlns:a="http://schemas.openxmlformats.org/drawingml/2006/main" noGrp="1"/>
          </p:cNvSpPr>
          <p:nvPr/>
        </p:nvSpPr>
        <p:spPr>
          <a:xfrm xmlns:a="http://schemas.openxmlformats.org/drawingml/2006/main">
            <a:off x="7124700" y="1857375"/>
            <a:ext cx="3905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latin typeface="Microsoft YaHei"/>
                <a:ea typeface="Microsoft YaHei"/>
                <a:cs typeface="Microsoft YaHei"/>
              </a:defRPr>
            </a:pPr>
            <a:r>
              <a:rPr sz="1650" b="1">
                <a:solidFill>
                  <a:srgbClr val="FFFFFF"/>
                </a:solidFill>
                <a:latin typeface="Microsoft YaHei"/>
                <a:ea typeface="Microsoft YaHei"/>
                <a:cs typeface="Microsoft YaHei"/>
              </a:rPr>
              <a:t>FlavorThresholdDB 的数据原则</a:t>
            </a:r>
          </a:p>
        </p:txBody>
      </p:sp>
      <p:sp>
        <p:nvSpPr>
          <p:cNvPr id="16" name="">
            <a:extLst xmlns:a="http://schemas.openxmlformats.org/drawingml/2006/main">
              <a:ext uri="{FF2B5EF4-FFF2-40B4-BE49-F238E27FC236}">
                <a16:creationId xmlns:a16="http://schemas.microsoft.com/office/drawing/2014/main" id="{D2AAB7E8-1428-4FB9-AB52-828503525E01}"/>
              </a:ext>
            </a:extLst>
          </p:cNvPr>
          <p:cNvSpPr>
            <a:spLocks xmlns:a="http://schemas.openxmlformats.org/drawingml/2006/main" noGrp="1"/>
          </p:cNvSpPr>
          <p:nvPr/>
        </p:nvSpPr>
        <p:spPr>
          <a:xfrm xmlns:a="http://schemas.openxmlformats.org/drawingml/2006/main">
            <a:off x="7124700" y="24193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EB0CA"/>
                </a:solidFill>
                <a:latin typeface="Microsoft YaHei"/>
                <a:ea typeface="Microsoft YaHei"/>
                <a:cs typeface="Microsoft YaHei"/>
              </a:defRPr>
            </a:pPr>
            <a:r>
              <a:rPr sz="1200" b="0">
                <a:solidFill>
                  <a:srgbClr val="9EB0CA"/>
                </a:solidFill>
                <a:latin typeface="Microsoft YaHei"/>
                <a:ea typeface="Microsoft YaHei"/>
                <a:cs typeface="Microsoft YaHei"/>
              </a:rPr>
              <a:t>每条结果同时保留</a:t>
            </a:r>
          </a:p>
        </p:txBody>
      </p:sp>
      <p:sp>
        <p:nvSpPr>
          <p:cNvPr id="17" name="">
            <a:extLst xmlns:a="http://schemas.openxmlformats.org/drawingml/2006/main">
              <a:ext uri="{FF2B5EF4-FFF2-40B4-BE49-F238E27FC236}">
                <a16:creationId xmlns:a16="http://schemas.microsoft.com/office/drawing/2014/main" id="{47BA22E4-25B2-4892-BFAB-2D2131AB56CC}"/>
              </a:ext>
            </a:extLst>
          </p:cNvPr>
          <p:cNvSpPr>
            <a:spLocks xmlns:a="http://schemas.openxmlformats.org/drawingml/2006/main" noGrp="1"/>
          </p:cNvSpPr>
          <p:nvPr/>
        </p:nvSpPr>
        <p:spPr>
          <a:xfrm xmlns:a="http://schemas.openxmlformats.org/drawingml/2006/main">
            <a:off x="7124700" y="2876550"/>
            <a:ext cx="133350" cy="133350"/>
          </a:xfrm>
          <a:prstGeom xmlns:a="http://schemas.openxmlformats.org/drawingml/2006/main" prst="roundRect">
            <a:avLst>
              <a:gd name="adj" fmla="val 50000"/>
            </a:avLst>
          </a:prstGeom>
          <a:solidFill xmlns:a="http://schemas.openxmlformats.org/drawingml/2006/main">
            <a:srgbClr val="2F62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FF18C02-9BCB-4BD7-B869-C71D96ACFB05}"/>
              </a:ext>
            </a:extLst>
          </p:cNvPr>
          <p:cNvSpPr>
            <a:spLocks xmlns:a="http://schemas.openxmlformats.org/drawingml/2006/main" noGrp="1"/>
          </p:cNvSpPr>
          <p:nvPr/>
        </p:nvSpPr>
        <p:spPr>
          <a:xfrm xmlns:a="http://schemas.openxmlformats.org/drawingml/2006/main">
            <a:off x="7429500" y="27717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FFFFFF"/>
                </a:solidFill>
                <a:latin typeface="Microsoft YaHei"/>
                <a:ea typeface="Microsoft YaHei"/>
                <a:cs typeface="Microsoft YaHei"/>
              </a:defRPr>
            </a:pPr>
            <a:r>
              <a:rPr sz="1425" b="0">
                <a:solidFill>
                  <a:srgbClr val="FFFFFF"/>
                </a:solidFill>
                <a:latin typeface="Microsoft YaHei"/>
                <a:ea typeface="Microsoft YaHei"/>
                <a:cs typeface="Microsoft YaHei"/>
              </a:rPr>
              <a:t>检测介质</a:t>
            </a:r>
          </a:p>
        </p:txBody>
      </p:sp>
      <p:sp>
        <p:nvSpPr>
          <p:cNvPr id="19" name="">
            <a:extLst xmlns:a="http://schemas.openxmlformats.org/drawingml/2006/main">
              <a:ext uri="{FF2B5EF4-FFF2-40B4-BE49-F238E27FC236}">
                <a16:creationId xmlns:a16="http://schemas.microsoft.com/office/drawing/2014/main" id="{BAA7B698-8774-4C0C-BE62-4334B391160C}"/>
              </a:ext>
            </a:extLst>
          </p:cNvPr>
          <p:cNvSpPr>
            <a:spLocks xmlns:a="http://schemas.openxmlformats.org/drawingml/2006/main" noGrp="1"/>
          </p:cNvSpPr>
          <p:nvPr/>
        </p:nvSpPr>
        <p:spPr>
          <a:xfrm xmlns:a="http://schemas.openxmlformats.org/drawingml/2006/main">
            <a:off x="7124700" y="3409950"/>
            <a:ext cx="133350" cy="133350"/>
          </a:xfrm>
          <a:prstGeom xmlns:a="http://schemas.openxmlformats.org/drawingml/2006/main" prst="roundRect">
            <a:avLst>
              <a:gd name="adj" fmla="val 50000"/>
            </a:avLst>
          </a:prstGeom>
          <a:solidFill xmlns:a="http://schemas.openxmlformats.org/drawingml/2006/main">
            <a:srgbClr val="2F62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BDD3E0C-4C17-457C-A5C5-E92D6E1CBC18}"/>
              </a:ext>
            </a:extLst>
          </p:cNvPr>
          <p:cNvSpPr>
            <a:spLocks xmlns:a="http://schemas.openxmlformats.org/drawingml/2006/main" noGrp="1"/>
          </p:cNvSpPr>
          <p:nvPr/>
        </p:nvSpPr>
        <p:spPr>
          <a:xfrm xmlns:a="http://schemas.openxmlformats.org/drawingml/2006/main">
            <a:off x="7429500" y="33051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FFFFFF"/>
                </a:solidFill>
                <a:latin typeface="Microsoft YaHei"/>
                <a:ea typeface="Microsoft YaHei"/>
                <a:cs typeface="Microsoft YaHei"/>
              </a:defRPr>
            </a:pPr>
            <a:r>
              <a:rPr sz="1425" b="0">
                <a:solidFill>
                  <a:srgbClr val="FFFFFF"/>
                </a:solidFill>
                <a:latin typeface="Microsoft YaHei"/>
                <a:ea typeface="Microsoft YaHei"/>
                <a:cs typeface="Microsoft YaHei"/>
              </a:rPr>
              <a:t>阈值类型</a:t>
            </a:r>
          </a:p>
        </p:txBody>
      </p:sp>
      <p:sp>
        <p:nvSpPr>
          <p:cNvPr id="21" name="">
            <a:extLst xmlns:a="http://schemas.openxmlformats.org/drawingml/2006/main">
              <a:ext uri="{FF2B5EF4-FFF2-40B4-BE49-F238E27FC236}">
                <a16:creationId xmlns:a16="http://schemas.microsoft.com/office/drawing/2014/main" id="{F71A58EE-A9B1-44CC-AC88-A02FB55A9ECC}"/>
              </a:ext>
            </a:extLst>
          </p:cNvPr>
          <p:cNvSpPr>
            <a:spLocks xmlns:a="http://schemas.openxmlformats.org/drawingml/2006/main" noGrp="1"/>
          </p:cNvSpPr>
          <p:nvPr/>
        </p:nvSpPr>
        <p:spPr>
          <a:xfrm xmlns:a="http://schemas.openxmlformats.org/drawingml/2006/main">
            <a:off x="7124700" y="3943350"/>
            <a:ext cx="133350" cy="133350"/>
          </a:xfrm>
          <a:prstGeom xmlns:a="http://schemas.openxmlformats.org/drawingml/2006/main" prst="roundRect">
            <a:avLst>
              <a:gd name="adj" fmla="val 50000"/>
            </a:avLst>
          </a:prstGeom>
          <a:solidFill xmlns:a="http://schemas.openxmlformats.org/drawingml/2006/main">
            <a:srgbClr val="2F62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0F4DA4-F87E-465E-84C0-13DD4C1E6815}"/>
              </a:ext>
            </a:extLst>
          </p:cNvPr>
          <p:cNvSpPr>
            <a:spLocks xmlns:a="http://schemas.openxmlformats.org/drawingml/2006/main" noGrp="1"/>
          </p:cNvSpPr>
          <p:nvPr/>
        </p:nvSpPr>
        <p:spPr>
          <a:xfrm xmlns:a="http://schemas.openxmlformats.org/drawingml/2006/main">
            <a:off x="7429500" y="38385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FFFFFF"/>
                </a:solidFill>
                <a:latin typeface="Microsoft YaHei"/>
                <a:ea typeface="Microsoft YaHei"/>
                <a:cs typeface="Microsoft YaHei"/>
              </a:defRPr>
            </a:pPr>
            <a:r>
              <a:rPr sz="1425" b="0">
                <a:solidFill>
                  <a:srgbClr val="FFFFFF"/>
                </a:solidFill>
                <a:latin typeface="Microsoft YaHei"/>
                <a:ea typeface="Microsoft YaHei"/>
                <a:cs typeface="Microsoft YaHei"/>
              </a:rPr>
              <a:t>数值与单位</a:t>
            </a:r>
          </a:p>
        </p:txBody>
      </p:sp>
      <p:sp>
        <p:nvSpPr>
          <p:cNvPr id="23" name="">
            <a:extLst xmlns:a="http://schemas.openxmlformats.org/drawingml/2006/main">
              <a:ext uri="{FF2B5EF4-FFF2-40B4-BE49-F238E27FC236}">
                <a16:creationId xmlns:a16="http://schemas.microsoft.com/office/drawing/2014/main" id="{AFCBBD38-9E5E-474F-A431-0A37E9586C89}"/>
              </a:ext>
            </a:extLst>
          </p:cNvPr>
          <p:cNvSpPr>
            <a:spLocks xmlns:a="http://schemas.openxmlformats.org/drawingml/2006/main" noGrp="1"/>
          </p:cNvSpPr>
          <p:nvPr/>
        </p:nvSpPr>
        <p:spPr>
          <a:xfrm xmlns:a="http://schemas.openxmlformats.org/drawingml/2006/main">
            <a:off x="7124700" y="4476750"/>
            <a:ext cx="133350" cy="133350"/>
          </a:xfrm>
          <a:prstGeom xmlns:a="http://schemas.openxmlformats.org/drawingml/2006/main" prst="roundRect">
            <a:avLst>
              <a:gd name="adj" fmla="val 50000"/>
            </a:avLst>
          </a:prstGeom>
          <a:solidFill xmlns:a="http://schemas.openxmlformats.org/drawingml/2006/main">
            <a:srgbClr val="50BF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0614185-8D30-4460-B634-F30D41622D20}"/>
              </a:ext>
            </a:extLst>
          </p:cNvPr>
          <p:cNvSpPr>
            <a:spLocks xmlns:a="http://schemas.openxmlformats.org/drawingml/2006/main" noGrp="1"/>
          </p:cNvSpPr>
          <p:nvPr/>
        </p:nvSpPr>
        <p:spPr>
          <a:xfrm xmlns:a="http://schemas.openxmlformats.org/drawingml/2006/main">
            <a:off x="7429500" y="43719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FFFFF"/>
                </a:solidFill>
                <a:latin typeface="Microsoft YaHei"/>
                <a:ea typeface="Microsoft YaHei"/>
                <a:cs typeface="Microsoft YaHei"/>
              </a:defRPr>
            </a:pPr>
            <a:r>
              <a:rPr sz="1425" b="1">
                <a:solidFill>
                  <a:srgbClr val="FFFFFF"/>
                </a:solidFill>
                <a:latin typeface="Microsoft YaHei"/>
                <a:ea typeface="Microsoft YaHei"/>
                <a:cs typeface="Microsoft YaHei"/>
              </a:rPr>
              <a:t>来源与原始记录</a:t>
            </a:r>
          </a:p>
        </p:txBody>
      </p:sp>
    </p:spTree>
    <p:extLst>
      <p:ext uri="{BB962C8B-B14F-4D97-AF65-F5344CB8AC3E}">
        <p14:creationId xmlns:p14="http://schemas.microsoft.com/office/powerpoint/2010/main" val="329570469"/>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12EB982-8B1C-47D7-BF7A-8CF2DDCB94F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5057DF-EEEE-4F3B-A930-9DE36F9AB014}"/>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DEVELOPMENT PATH</a:t>
            </a:r>
          </a:p>
        </p:txBody>
      </p:sp>
      <p:sp>
        <p:nvSpPr>
          <p:cNvPr id="3" name="">
            <a:extLst xmlns:a="http://schemas.openxmlformats.org/drawingml/2006/main">
              <a:ext uri="{FF2B5EF4-FFF2-40B4-BE49-F238E27FC236}">
                <a16:creationId xmlns:a16="http://schemas.microsoft.com/office/drawing/2014/main" id="{37BB76DD-4694-4D0F-9794-501A60D897AD}"/>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五个阶段，把本地原型推进为公开科研平台</a:t>
            </a:r>
          </a:p>
        </p:txBody>
      </p:sp>
      <p:sp>
        <p:nvSpPr>
          <p:cNvPr id="4" name="">
            <a:extLst xmlns:a="http://schemas.openxmlformats.org/drawingml/2006/main">
              <a:ext uri="{FF2B5EF4-FFF2-40B4-BE49-F238E27FC236}">
                <a16:creationId xmlns:a16="http://schemas.microsoft.com/office/drawing/2014/main" id="{191FDB4B-1657-42A5-B585-2FE915F4D4E5}"/>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03</a:t>
            </a:r>
          </a:p>
        </p:txBody>
      </p:sp>
      <p:sp>
        <p:nvSpPr>
          <p:cNvPr id="5" name="">
            <a:extLst xmlns:a="http://schemas.openxmlformats.org/drawingml/2006/main">
              <a:ext uri="{FF2B5EF4-FFF2-40B4-BE49-F238E27FC236}">
                <a16:creationId xmlns:a16="http://schemas.microsoft.com/office/drawing/2014/main" id="{3C622254-4068-4B03-A77B-CA4C02B0A0D1}"/>
              </a:ext>
            </a:extLst>
          </p:cNvPr>
          <p:cNvSpPr>
            <a:spLocks xmlns:a="http://schemas.openxmlformats.org/drawingml/2006/main" noGrp="1"/>
          </p:cNvSpPr>
          <p:nvPr/>
        </p:nvSpPr>
        <p:spPr>
          <a:xfrm xmlns:a="http://schemas.openxmlformats.org/drawingml/2006/main">
            <a:off x="952500" y="2667000"/>
            <a:ext cx="10096500" cy="38100"/>
          </a:xfrm>
          <a:prstGeom xmlns:a="http://schemas.openxmlformats.org/drawingml/2006/main" prst="rect">
            <a:avLst/>
          </a:prstGeom>
          <a:solidFill xmlns:a="http://schemas.openxmlformats.org/drawingml/2006/main">
            <a:srgbClr val="DDE4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88E5CA-6F45-4016-A0D1-F50A7B013F79}"/>
              </a:ext>
            </a:extLst>
          </p:cNvPr>
          <p:cNvSpPr>
            <a:spLocks xmlns:a="http://schemas.openxmlformats.org/drawingml/2006/main" noGrp="1"/>
          </p:cNvSpPr>
          <p:nvPr/>
        </p:nvSpPr>
        <p:spPr>
          <a:xfrm xmlns:a="http://schemas.openxmlformats.org/drawingml/2006/main">
            <a:off x="1409700" y="2495550"/>
            <a:ext cx="381000" cy="3810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9050">
            <a:solidFill>
              <a:srgbClr val="DDE4EF"/>
            </a:solidFill>
            <a:prstDash val="solid"/>
          </a:ln>
        </p:spPr>
      </p:sp>
      <p:sp>
        <p:nvSpPr>
          <p:cNvPr id="7" name="">
            <a:extLst xmlns:a="http://schemas.openxmlformats.org/drawingml/2006/main">
              <a:ext uri="{FF2B5EF4-FFF2-40B4-BE49-F238E27FC236}">
                <a16:creationId xmlns:a16="http://schemas.microsoft.com/office/drawing/2014/main" id="{F8E4D4A8-3DF5-47E5-90DA-81581958B075}"/>
              </a:ext>
            </a:extLst>
          </p:cNvPr>
          <p:cNvSpPr>
            <a:spLocks xmlns:a="http://schemas.openxmlformats.org/drawingml/2006/main" noGrp="1"/>
          </p:cNvSpPr>
          <p:nvPr/>
        </p:nvSpPr>
        <p:spPr>
          <a:xfrm xmlns:a="http://schemas.openxmlformats.org/drawingml/2006/main">
            <a:off x="742950" y="17621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本地原型</a:t>
            </a:r>
          </a:p>
        </p:txBody>
      </p:sp>
      <p:sp>
        <p:nvSpPr>
          <p:cNvPr id="8" name="">
            <a:extLst xmlns:a="http://schemas.openxmlformats.org/drawingml/2006/main">
              <a:ext uri="{FF2B5EF4-FFF2-40B4-BE49-F238E27FC236}">
                <a16:creationId xmlns:a16="http://schemas.microsoft.com/office/drawing/2014/main" id="{5F701CCB-3DAE-44E5-91D1-B01B21D9181D}"/>
              </a:ext>
            </a:extLst>
          </p:cNvPr>
          <p:cNvSpPr>
            <a:spLocks xmlns:a="http://schemas.openxmlformats.org/drawingml/2006/main" noGrp="1"/>
          </p:cNvSpPr>
          <p:nvPr/>
        </p:nvSpPr>
        <p:spPr>
          <a:xfrm xmlns:a="http://schemas.openxmlformats.org/drawingml/2006/main">
            <a:off x="742950" y="3095625"/>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阈值检索</a:t>
            </a:r>
          </a:p>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介质与类型</a:t>
            </a:r>
          </a:p>
        </p:txBody>
      </p:sp>
      <p:sp>
        <p:nvSpPr>
          <p:cNvPr id="9" name="">
            <a:extLst xmlns:a="http://schemas.openxmlformats.org/drawingml/2006/main">
              <a:ext uri="{FF2B5EF4-FFF2-40B4-BE49-F238E27FC236}">
                <a16:creationId xmlns:a16="http://schemas.microsoft.com/office/drawing/2014/main" id="{A3486717-7262-4414-9758-A00DA14C126C}"/>
              </a:ext>
            </a:extLst>
          </p:cNvPr>
          <p:cNvSpPr>
            <a:spLocks xmlns:a="http://schemas.openxmlformats.org/drawingml/2006/main" noGrp="1"/>
          </p:cNvSpPr>
          <p:nvPr/>
        </p:nvSpPr>
        <p:spPr>
          <a:xfrm xmlns:a="http://schemas.openxmlformats.org/drawingml/2006/main">
            <a:off x="3581400" y="2495550"/>
            <a:ext cx="381000" cy="3810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9050">
            <a:solidFill>
              <a:srgbClr val="DDE4EF"/>
            </a:solidFill>
            <a:prstDash val="solid"/>
          </a:ln>
        </p:spPr>
      </p:sp>
      <p:sp>
        <p:nvSpPr>
          <p:cNvPr id="10" name="">
            <a:extLst xmlns:a="http://schemas.openxmlformats.org/drawingml/2006/main">
              <a:ext uri="{FF2B5EF4-FFF2-40B4-BE49-F238E27FC236}">
                <a16:creationId xmlns:a16="http://schemas.microsoft.com/office/drawing/2014/main" id="{20959FA1-85F2-4DC9-923B-1E77719F5253}"/>
              </a:ext>
            </a:extLst>
          </p:cNvPr>
          <p:cNvSpPr>
            <a:spLocks xmlns:a="http://schemas.openxmlformats.org/drawingml/2006/main" noGrp="1"/>
          </p:cNvSpPr>
          <p:nvPr/>
        </p:nvSpPr>
        <p:spPr>
          <a:xfrm xmlns:a="http://schemas.openxmlformats.org/drawingml/2006/main">
            <a:off x="2914650" y="17621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文献扩展</a:t>
            </a:r>
          </a:p>
        </p:txBody>
      </p:sp>
      <p:sp>
        <p:nvSpPr>
          <p:cNvPr id="11" name="">
            <a:extLst xmlns:a="http://schemas.openxmlformats.org/drawingml/2006/main">
              <a:ext uri="{FF2B5EF4-FFF2-40B4-BE49-F238E27FC236}">
                <a16:creationId xmlns:a16="http://schemas.microsoft.com/office/drawing/2014/main" id="{ECFFDCEF-C5AA-4DD5-9F61-A9407FEC3655}"/>
              </a:ext>
            </a:extLst>
          </p:cNvPr>
          <p:cNvSpPr>
            <a:spLocks xmlns:a="http://schemas.openxmlformats.org/drawingml/2006/main" noGrp="1"/>
          </p:cNvSpPr>
          <p:nvPr/>
        </p:nvSpPr>
        <p:spPr>
          <a:xfrm xmlns:a="http://schemas.openxmlformats.org/drawingml/2006/main">
            <a:off x="2914650" y="3095625"/>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书籍片段</a:t>
            </a:r>
          </a:p>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FEMA 描述</a:t>
            </a:r>
          </a:p>
        </p:txBody>
      </p:sp>
      <p:sp>
        <p:nvSpPr>
          <p:cNvPr id="12" name="">
            <a:extLst xmlns:a="http://schemas.openxmlformats.org/drawingml/2006/main">
              <a:ext uri="{FF2B5EF4-FFF2-40B4-BE49-F238E27FC236}">
                <a16:creationId xmlns:a16="http://schemas.microsoft.com/office/drawing/2014/main" id="{0FE4BAD5-4F23-4BF1-9E17-6A23B5C46CE0}"/>
              </a:ext>
            </a:extLst>
          </p:cNvPr>
          <p:cNvSpPr>
            <a:spLocks xmlns:a="http://schemas.openxmlformats.org/drawingml/2006/main" noGrp="1"/>
          </p:cNvSpPr>
          <p:nvPr/>
        </p:nvSpPr>
        <p:spPr>
          <a:xfrm xmlns:a="http://schemas.openxmlformats.org/drawingml/2006/main">
            <a:off x="5753100" y="2495550"/>
            <a:ext cx="381000" cy="3810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9050">
            <a:solidFill>
              <a:srgbClr val="DDE4EF"/>
            </a:solidFill>
            <a:prstDash val="solid"/>
          </a:ln>
        </p:spPr>
      </p:sp>
      <p:sp>
        <p:nvSpPr>
          <p:cNvPr id="13" name="">
            <a:extLst xmlns:a="http://schemas.openxmlformats.org/drawingml/2006/main">
              <a:ext uri="{FF2B5EF4-FFF2-40B4-BE49-F238E27FC236}">
                <a16:creationId xmlns:a16="http://schemas.microsoft.com/office/drawing/2014/main" id="{24DB79AE-31DC-4745-BEAF-B4D0E6B86946}"/>
              </a:ext>
            </a:extLst>
          </p:cNvPr>
          <p:cNvSpPr>
            <a:spLocks xmlns:a="http://schemas.openxmlformats.org/drawingml/2006/main" noGrp="1"/>
          </p:cNvSpPr>
          <p:nvPr/>
        </p:nvSpPr>
        <p:spPr>
          <a:xfrm xmlns:a="http://schemas.openxmlformats.org/drawingml/2006/main">
            <a:off x="5086350" y="17621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品牌重构</a:t>
            </a:r>
          </a:p>
        </p:txBody>
      </p:sp>
      <p:sp>
        <p:nvSpPr>
          <p:cNvPr id="14" name="">
            <a:extLst xmlns:a="http://schemas.openxmlformats.org/drawingml/2006/main">
              <a:ext uri="{FF2B5EF4-FFF2-40B4-BE49-F238E27FC236}">
                <a16:creationId xmlns:a16="http://schemas.microsoft.com/office/drawing/2014/main" id="{5483D4C0-E335-4330-82FE-9FA26E766EF0}"/>
              </a:ext>
            </a:extLst>
          </p:cNvPr>
          <p:cNvSpPr>
            <a:spLocks xmlns:a="http://schemas.openxmlformats.org/drawingml/2006/main" noGrp="1"/>
          </p:cNvSpPr>
          <p:nvPr/>
        </p:nvSpPr>
        <p:spPr>
          <a:xfrm xmlns:a="http://schemas.openxmlformats.org/drawingml/2006/main">
            <a:off x="5086350" y="3095625"/>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双语界面</a:t>
            </a:r>
          </a:p>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科研工作台</a:t>
            </a:r>
          </a:p>
        </p:txBody>
      </p:sp>
      <p:sp>
        <p:nvSpPr>
          <p:cNvPr id="15" name="">
            <a:extLst xmlns:a="http://schemas.openxmlformats.org/drawingml/2006/main">
              <a:ext uri="{FF2B5EF4-FFF2-40B4-BE49-F238E27FC236}">
                <a16:creationId xmlns:a16="http://schemas.microsoft.com/office/drawing/2014/main" id="{AB1C3FA2-CE68-485D-BD62-16A6AF4B120E}"/>
              </a:ext>
            </a:extLst>
          </p:cNvPr>
          <p:cNvSpPr>
            <a:spLocks xmlns:a="http://schemas.openxmlformats.org/drawingml/2006/main" noGrp="1"/>
          </p:cNvSpPr>
          <p:nvPr/>
        </p:nvSpPr>
        <p:spPr>
          <a:xfrm xmlns:a="http://schemas.openxmlformats.org/drawingml/2006/main">
            <a:off x="7924800" y="2495550"/>
            <a:ext cx="381000" cy="3810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9050">
            <a:solidFill>
              <a:srgbClr val="DDE4EF"/>
            </a:solidFill>
            <a:prstDash val="solid"/>
          </a:ln>
        </p:spPr>
      </p:sp>
      <p:sp>
        <p:nvSpPr>
          <p:cNvPr id="16" name="">
            <a:extLst xmlns:a="http://schemas.openxmlformats.org/drawingml/2006/main">
              <a:ext uri="{FF2B5EF4-FFF2-40B4-BE49-F238E27FC236}">
                <a16:creationId xmlns:a16="http://schemas.microsoft.com/office/drawing/2014/main" id="{B19FDAE1-02D2-4E80-A925-226BC65E73D9}"/>
              </a:ext>
            </a:extLst>
          </p:cNvPr>
          <p:cNvSpPr>
            <a:spLocks xmlns:a="http://schemas.openxmlformats.org/drawingml/2006/main" noGrp="1"/>
          </p:cNvSpPr>
          <p:nvPr/>
        </p:nvSpPr>
        <p:spPr>
          <a:xfrm xmlns:a="http://schemas.openxmlformats.org/drawingml/2006/main">
            <a:off x="7258050" y="17621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公开部署</a:t>
            </a:r>
          </a:p>
        </p:txBody>
      </p:sp>
      <p:sp>
        <p:nvSpPr>
          <p:cNvPr id="17" name="">
            <a:extLst xmlns:a="http://schemas.openxmlformats.org/drawingml/2006/main">
              <a:ext uri="{FF2B5EF4-FFF2-40B4-BE49-F238E27FC236}">
                <a16:creationId xmlns:a16="http://schemas.microsoft.com/office/drawing/2014/main" id="{D96095B6-B682-4B63-9546-896174AF266B}"/>
              </a:ext>
            </a:extLst>
          </p:cNvPr>
          <p:cNvSpPr>
            <a:spLocks xmlns:a="http://schemas.openxmlformats.org/drawingml/2006/main" noGrp="1"/>
          </p:cNvSpPr>
          <p:nvPr/>
        </p:nvSpPr>
        <p:spPr>
          <a:xfrm xmlns:a="http://schemas.openxmlformats.org/drawingml/2006/main">
            <a:off x="7258050" y="3095625"/>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GitHub Pages</a:t>
            </a:r>
          </a:p>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Render API</a:t>
            </a:r>
          </a:p>
        </p:txBody>
      </p:sp>
      <p:sp>
        <p:nvSpPr>
          <p:cNvPr id="18" name="">
            <a:extLst xmlns:a="http://schemas.openxmlformats.org/drawingml/2006/main">
              <a:ext uri="{FF2B5EF4-FFF2-40B4-BE49-F238E27FC236}">
                <a16:creationId xmlns:a16="http://schemas.microsoft.com/office/drawing/2014/main" id="{54DC9B25-0B8F-4EEB-A749-F028CDE8C300}"/>
              </a:ext>
            </a:extLst>
          </p:cNvPr>
          <p:cNvSpPr>
            <a:spLocks xmlns:a="http://schemas.openxmlformats.org/drawingml/2006/main" noGrp="1"/>
          </p:cNvSpPr>
          <p:nvPr/>
        </p:nvSpPr>
        <p:spPr>
          <a:xfrm xmlns:a="http://schemas.openxmlformats.org/drawingml/2006/main">
            <a:off x="10096500" y="2495550"/>
            <a:ext cx="381000" cy="381000"/>
          </a:xfrm>
          <a:prstGeom xmlns:a="http://schemas.openxmlformats.org/drawingml/2006/main" prst="roundRect">
            <a:avLst>
              <a:gd name="adj" fmla="val 50000"/>
            </a:avLst>
          </a:prstGeom>
          <a:solidFill xmlns:a="http://schemas.openxmlformats.org/drawingml/2006/main">
            <a:srgbClr val="2F62E8"/>
          </a:solidFill>
          <a:ln xmlns:a="http://schemas.openxmlformats.org/drawingml/2006/main" w="19050">
            <a:solidFill>
              <a:srgbClr val="2F62E8"/>
            </a:solidFill>
            <a:prstDash val="solid"/>
          </a:ln>
        </p:spPr>
      </p:sp>
      <p:sp>
        <p:nvSpPr>
          <p:cNvPr id="19" name="">
            <a:extLst xmlns:a="http://schemas.openxmlformats.org/drawingml/2006/main">
              <a:ext uri="{FF2B5EF4-FFF2-40B4-BE49-F238E27FC236}">
                <a16:creationId xmlns:a16="http://schemas.microsoft.com/office/drawing/2014/main" id="{ECCCD925-2156-4447-B2B2-8D81E6751288}"/>
              </a:ext>
            </a:extLst>
          </p:cNvPr>
          <p:cNvSpPr>
            <a:spLocks xmlns:a="http://schemas.openxmlformats.org/drawingml/2006/main" noGrp="1"/>
          </p:cNvSpPr>
          <p:nvPr/>
        </p:nvSpPr>
        <p:spPr>
          <a:xfrm xmlns:a="http://schemas.openxmlformats.org/drawingml/2006/main">
            <a:off x="9429750" y="17621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F62E8"/>
                </a:solidFill>
                <a:latin typeface="Microsoft YaHei"/>
                <a:ea typeface="Microsoft YaHei"/>
                <a:cs typeface="Microsoft YaHei"/>
              </a:defRPr>
            </a:pPr>
            <a:r>
              <a:rPr sz="1650" b="1">
                <a:solidFill>
                  <a:srgbClr val="2F62E8"/>
                </a:solidFill>
                <a:latin typeface="Microsoft YaHei"/>
                <a:ea typeface="Microsoft YaHei"/>
                <a:cs typeface="Microsoft YaHei"/>
              </a:rPr>
              <a:t>多源工作台</a:t>
            </a:r>
          </a:p>
        </p:txBody>
      </p:sp>
      <p:sp>
        <p:nvSpPr>
          <p:cNvPr id="20" name="">
            <a:extLst xmlns:a="http://schemas.openxmlformats.org/drawingml/2006/main">
              <a:ext uri="{FF2B5EF4-FFF2-40B4-BE49-F238E27FC236}">
                <a16:creationId xmlns:a16="http://schemas.microsoft.com/office/drawing/2014/main" id="{77E4DE96-0C99-4FD8-B78C-B5B51C6DF38B}"/>
              </a:ext>
            </a:extLst>
          </p:cNvPr>
          <p:cNvSpPr>
            <a:spLocks xmlns:a="http://schemas.openxmlformats.org/drawingml/2006/main" noGrp="1"/>
          </p:cNvSpPr>
          <p:nvPr/>
        </p:nvSpPr>
        <p:spPr>
          <a:xfrm xmlns:a="http://schemas.openxmlformats.org/drawingml/2006/main">
            <a:off x="9429750" y="3095625"/>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PubChem · FlavorDB</a:t>
            </a:r>
          </a:p>
          <a:p xmlns:a="http://schemas.openxmlformats.org/drawingml/2006/main">
            <a:pPr algn="ctr">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RDKit · Supabase</a:t>
            </a:r>
          </a:p>
        </p:txBody>
      </p:sp>
      <p:sp>
        <p:nvSpPr>
          <p:cNvPr id="21" name="">
            <a:extLst xmlns:a="http://schemas.openxmlformats.org/drawingml/2006/main">
              <a:ext uri="{FF2B5EF4-FFF2-40B4-BE49-F238E27FC236}">
                <a16:creationId xmlns:a16="http://schemas.microsoft.com/office/drawing/2014/main" id="{D99A452B-9426-4530-85F0-33F29F92BDAA}"/>
              </a:ext>
            </a:extLst>
          </p:cNvPr>
          <p:cNvSpPr>
            <a:spLocks xmlns:a="http://schemas.openxmlformats.org/drawingml/2006/main" noGrp="1"/>
          </p:cNvSpPr>
          <p:nvPr/>
        </p:nvSpPr>
        <p:spPr>
          <a:xfrm xmlns:a="http://schemas.openxmlformats.org/drawingml/2006/main">
            <a:off x="4667250" y="4333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F62E8"/>
                </a:solidFill>
                <a:latin typeface="Aptos Display"/>
                <a:ea typeface="Aptos Display"/>
                <a:cs typeface="Aptos Display"/>
              </a:defRPr>
            </a:pPr>
            <a:r>
              <a:rPr sz="1350" b="1">
                <a:solidFill>
                  <a:srgbClr val="2F62E8"/>
                </a:solidFill>
                <a:latin typeface="Aptos Display"/>
                <a:ea typeface="Aptos Display"/>
                <a:cs typeface="Aptos Display"/>
              </a:rPr>
              <a:t>2026.07.29</a:t>
            </a:r>
          </a:p>
        </p:txBody>
      </p:sp>
      <p:sp>
        <p:nvSpPr>
          <p:cNvPr id="22" name="">
            <a:extLst xmlns:a="http://schemas.openxmlformats.org/drawingml/2006/main">
              <a:ext uri="{FF2B5EF4-FFF2-40B4-BE49-F238E27FC236}">
                <a16:creationId xmlns:a16="http://schemas.microsoft.com/office/drawing/2014/main" id="{97D74EE0-BBC6-42BA-985A-C5509273D5BF}"/>
              </a:ext>
            </a:extLst>
          </p:cNvPr>
          <p:cNvSpPr>
            <a:spLocks xmlns:a="http://schemas.openxmlformats.org/drawingml/2006/main" noGrp="1"/>
          </p:cNvSpPr>
          <p:nvPr/>
        </p:nvSpPr>
        <p:spPr>
          <a:xfrm xmlns:a="http://schemas.openxmlformats.org/drawingml/2006/main">
            <a:off x="4667250" y="4638675"/>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首次公开发布</a:t>
            </a:r>
          </a:p>
        </p:txBody>
      </p:sp>
    </p:spTree>
    <p:extLst>
      <p:ext uri="{BB962C8B-B14F-4D97-AF65-F5344CB8AC3E}">
        <p14:creationId xmlns:p14="http://schemas.microsoft.com/office/powerpoint/2010/main" val="803453193"/>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142EABD-A71D-455B-9374-B9A33D581736}"/>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945E36-D2BC-491A-8787-0E7019331831}"/>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SEARCH WORKFLOW</a:t>
            </a:r>
          </a:p>
        </p:txBody>
      </p:sp>
      <p:sp>
        <p:nvSpPr>
          <p:cNvPr id="3" name="">
            <a:extLst xmlns:a="http://schemas.openxmlformats.org/drawingml/2006/main">
              <a:ext uri="{FF2B5EF4-FFF2-40B4-BE49-F238E27FC236}">
                <a16:creationId xmlns:a16="http://schemas.microsoft.com/office/drawing/2014/main" id="{F6DEED58-4518-4520-BED4-7B47D32ABB58}"/>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检索入口把“名称匹配”和“数据范围”分成两层</a:t>
            </a:r>
          </a:p>
        </p:txBody>
      </p:sp>
      <p:sp>
        <p:nvSpPr>
          <p:cNvPr id="4" name="">
            <a:extLst xmlns:a="http://schemas.openxmlformats.org/drawingml/2006/main">
              <a:ext uri="{FF2B5EF4-FFF2-40B4-BE49-F238E27FC236}">
                <a16:creationId xmlns:a16="http://schemas.microsoft.com/office/drawing/2014/main" id="{B4AC1AF0-1443-489F-A336-3FC3F95B2C58}"/>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04</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34297a3faa14643"/>
          <a:srcRect xmlns:a="http://schemas.openxmlformats.org/drawingml/2006/main" l="0" t="85" r="0" b="85"/>
          <a:stretch xmlns:a="http://schemas.openxmlformats.org/drawingml/2006/main">
            <a:fillRect l="0" t="0" r="0" b="0"/>
          </a:stretch>
        </p:blipFill>
        <p:spPr>
          <a:xfrm xmlns:a="http://schemas.openxmlformats.org/drawingml/2006/main">
            <a:off x="609600" y="1381125"/>
            <a:ext cx="7429500" cy="4171950"/>
          </a:xfrm>
          <a:prstGeom xmlns:a="http://schemas.openxmlformats.org/drawingml/2006/main" prst="roundRect">
            <a:avLst>
              <a:gd name="adj" fmla="val 2740"/>
            </a:avLst>
          </a:prstGeom>
        </p:spPr>
      </p:pic>
      <p:sp>
        <p:nvSpPr>
          <p:cNvPr id="6" name="">
            <a:extLst xmlns:a="http://schemas.openxmlformats.org/drawingml/2006/main">
              <a:ext uri="{FF2B5EF4-FFF2-40B4-BE49-F238E27FC236}">
                <a16:creationId xmlns:a16="http://schemas.microsoft.com/office/drawing/2014/main" id="{F0A5B3B9-DE45-4B77-B47B-F788F0542EF3}"/>
              </a:ext>
            </a:extLst>
          </p:cNvPr>
          <p:cNvSpPr>
            <a:spLocks xmlns:a="http://schemas.openxmlformats.org/drawingml/2006/main" noGrp="1"/>
          </p:cNvSpPr>
          <p:nvPr/>
        </p:nvSpPr>
        <p:spPr>
          <a:xfrm xmlns:a="http://schemas.openxmlformats.org/drawingml/2006/main">
            <a:off x="8429625" y="1476375"/>
            <a:ext cx="3000375" cy="3429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DE4EF"/>
            </a:solidFill>
            <a:prstDash val="solid"/>
          </a:ln>
        </p:spPr>
      </p:sp>
      <p:sp>
        <p:nvSpPr>
          <p:cNvPr id="7" name="">
            <a:extLst xmlns:a="http://schemas.openxmlformats.org/drawingml/2006/main">
              <a:ext uri="{FF2B5EF4-FFF2-40B4-BE49-F238E27FC236}">
                <a16:creationId xmlns:a16="http://schemas.microsoft.com/office/drawing/2014/main" id="{7576BAA4-0306-4615-BB1E-1BA461997769}"/>
              </a:ext>
            </a:extLst>
          </p:cNvPr>
          <p:cNvSpPr>
            <a:spLocks xmlns:a="http://schemas.openxmlformats.org/drawingml/2006/main" noGrp="1"/>
          </p:cNvSpPr>
          <p:nvPr/>
        </p:nvSpPr>
        <p:spPr>
          <a:xfrm xmlns:a="http://schemas.openxmlformats.org/drawingml/2006/main">
            <a:off x="8715375" y="17430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一次检索</a:t>
            </a:r>
          </a:p>
        </p:txBody>
      </p:sp>
      <p:sp>
        <p:nvSpPr>
          <p:cNvPr id="8" name="">
            <a:extLst xmlns:a="http://schemas.openxmlformats.org/drawingml/2006/main">
              <a:ext uri="{FF2B5EF4-FFF2-40B4-BE49-F238E27FC236}">
                <a16:creationId xmlns:a16="http://schemas.microsoft.com/office/drawing/2014/main" id="{5DE9F660-CDE7-478D-B640-6EBE66EC8369}"/>
              </a:ext>
            </a:extLst>
          </p:cNvPr>
          <p:cNvSpPr>
            <a:spLocks xmlns:a="http://schemas.openxmlformats.org/drawingml/2006/main" noGrp="1"/>
          </p:cNvSpPr>
          <p:nvPr/>
        </p:nvSpPr>
        <p:spPr>
          <a:xfrm xmlns:a="http://schemas.openxmlformats.org/drawingml/2006/main">
            <a:off x="8743950" y="2333625"/>
            <a:ext cx="266700" cy="26670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AA47EC-5928-4662-9F3E-CCE9F9E5D52D}"/>
              </a:ext>
            </a:extLst>
          </p:cNvPr>
          <p:cNvSpPr>
            <a:spLocks xmlns:a="http://schemas.openxmlformats.org/drawingml/2006/main" noGrp="1"/>
          </p:cNvSpPr>
          <p:nvPr/>
        </p:nvSpPr>
        <p:spPr>
          <a:xfrm xmlns:a="http://schemas.openxmlformats.org/drawingml/2006/main">
            <a:off x="8743950" y="23336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F62E8"/>
                </a:solidFill>
                <a:latin typeface="Aptos Display"/>
                <a:ea typeface="Aptos Display"/>
                <a:cs typeface="Aptos Display"/>
              </a:defRPr>
            </a:pPr>
            <a:r>
              <a:rPr sz="975" b="1">
                <a:solidFill>
                  <a:srgbClr val="2F62E8"/>
                </a:solidFill>
                <a:latin typeface="Aptos Display"/>
                <a:ea typeface="Aptos Display"/>
                <a:cs typeface="Aptos Display"/>
              </a:rPr>
              <a:t>1</a:t>
            </a:r>
          </a:p>
        </p:txBody>
      </p:sp>
      <p:sp>
        <p:nvSpPr>
          <p:cNvPr id="10" name="">
            <a:extLst xmlns:a="http://schemas.openxmlformats.org/drawingml/2006/main">
              <a:ext uri="{FF2B5EF4-FFF2-40B4-BE49-F238E27FC236}">
                <a16:creationId xmlns:a16="http://schemas.microsoft.com/office/drawing/2014/main" id="{624F6405-2A9D-45C2-84F6-0A84FA6422E8}"/>
              </a:ext>
            </a:extLst>
          </p:cNvPr>
          <p:cNvSpPr>
            <a:spLocks xmlns:a="http://schemas.openxmlformats.org/drawingml/2006/main" noGrp="1"/>
          </p:cNvSpPr>
          <p:nvPr/>
        </p:nvSpPr>
        <p:spPr>
          <a:xfrm xmlns:a="http://schemas.openxmlformats.org/drawingml/2006/main">
            <a:off x="9144000" y="22669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输入 CAS / 中文名 / 英文名</a:t>
            </a:r>
          </a:p>
        </p:txBody>
      </p:sp>
      <p:sp>
        <p:nvSpPr>
          <p:cNvPr id="11" name="">
            <a:extLst xmlns:a="http://schemas.openxmlformats.org/drawingml/2006/main">
              <a:ext uri="{FF2B5EF4-FFF2-40B4-BE49-F238E27FC236}">
                <a16:creationId xmlns:a16="http://schemas.microsoft.com/office/drawing/2014/main" id="{B549A8BD-F53F-4A7F-ACEB-7D2A7705107E}"/>
              </a:ext>
            </a:extLst>
          </p:cNvPr>
          <p:cNvSpPr>
            <a:spLocks xmlns:a="http://schemas.openxmlformats.org/drawingml/2006/main" noGrp="1"/>
          </p:cNvSpPr>
          <p:nvPr/>
        </p:nvSpPr>
        <p:spPr>
          <a:xfrm xmlns:a="http://schemas.openxmlformats.org/drawingml/2006/main">
            <a:off x="8743950" y="2924175"/>
            <a:ext cx="266700" cy="26670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90BAD1-886C-48CA-AC96-19B1E469D97E}"/>
              </a:ext>
            </a:extLst>
          </p:cNvPr>
          <p:cNvSpPr>
            <a:spLocks xmlns:a="http://schemas.openxmlformats.org/drawingml/2006/main" noGrp="1"/>
          </p:cNvSpPr>
          <p:nvPr/>
        </p:nvSpPr>
        <p:spPr>
          <a:xfrm xmlns:a="http://schemas.openxmlformats.org/drawingml/2006/main">
            <a:off x="8743950" y="29241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F62E8"/>
                </a:solidFill>
                <a:latin typeface="Aptos Display"/>
                <a:ea typeface="Aptos Display"/>
                <a:cs typeface="Aptos Display"/>
              </a:defRPr>
            </a:pPr>
            <a:r>
              <a:rPr sz="975" b="1">
                <a:solidFill>
                  <a:srgbClr val="2F62E8"/>
                </a:solidFill>
                <a:latin typeface="Aptos Display"/>
                <a:ea typeface="Aptos Display"/>
                <a:cs typeface="Aptos Display"/>
              </a:rPr>
              <a:t>2</a:t>
            </a:r>
          </a:p>
        </p:txBody>
      </p:sp>
      <p:sp>
        <p:nvSpPr>
          <p:cNvPr id="13" name="">
            <a:extLst xmlns:a="http://schemas.openxmlformats.org/drawingml/2006/main">
              <a:ext uri="{FF2B5EF4-FFF2-40B4-BE49-F238E27FC236}">
                <a16:creationId xmlns:a16="http://schemas.microsoft.com/office/drawing/2014/main" id="{21E0148A-23B2-47C0-8FA9-3E185C8E76A0}"/>
              </a:ext>
            </a:extLst>
          </p:cNvPr>
          <p:cNvSpPr>
            <a:spLocks xmlns:a="http://schemas.openxmlformats.org/drawingml/2006/main" noGrp="1"/>
          </p:cNvSpPr>
          <p:nvPr/>
        </p:nvSpPr>
        <p:spPr>
          <a:xfrm xmlns:a="http://schemas.openxmlformats.org/drawingml/2006/main">
            <a:off x="9144000" y="28575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选择精确或模糊检索</a:t>
            </a:r>
          </a:p>
        </p:txBody>
      </p:sp>
      <p:sp>
        <p:nvSpPr>
          <p:cNvPr id="14" name="">
            <a:extLst xmlns:a="http://schemas.openxmlformats.org/drawingml/2006/main">
              <a:ext uri="{FF2B5EF4-FFF2-40B4-BE49-F238E27FC236}">
                <a16:creationId xmlns:a16="http://schemas.microsoft.com/office/drawing/2014/main" id="{BE412CF5-AD18-4DBA-9895-7A48C8883B58}"/>
              </a:ext>
            </a:extLst>
          </p:cNvPr>
          <p:cNvSpPr>
            <a:spLocks xmlns:a="http://schemas.openxmlformats.org/drawingml/2006/main" noGrp="1"/>
          </p:cNvSpPr>
          <p:nvPr/>
        </p:nvSpPr>
        <p:spPr>
          <a:xfrm xmlns:a="http://schemas.openxmlformats.org/drawingml/2006/main">
            <a:off x="8743950" y="3514725"/>
            <a:ext cx="266700" cy="266700"/>
          </a:xfrm>
          <a:prstGeom xmlns:a="http://schemas.openxmlformats.org/drawingml/2006/main" prst="roundRect">
            <a:avLst>
              <a:gd name="adj" fmla="val 50000"/>
            </a:avLst>
          </a:prstGeom>
          <a:solidFill xmlns:a="http://schemas.openxmlformats.org/drawingml/2006/main">
            <a:srgbClr val="EAF1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A61CCB4-F841-45CD-8BED-195E479B9F44}"/>
              </a:ext>
            </a:extLst>
          </p:cNvPr>
          <p:cNvSpPr>
            <a:spLocks xmlns:a="http://schemas.openxmlformats.org/drawingml/2006/main" noGrp="1"/>
          </p:cNvSpPr>
          <p:nvPr/>
        </p:nvSpPr>
        <p:spPr>
          <a:xfrm xmlns:a="http://schemas.openxmlformats.org/drawingml/2006/main">
            <a:off x="8743950" y="35147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2F62E8"/>
                </a:solidFill>
                <a:latin typeface="Aptos Display"/>
                <a:ea typeface="Aptos Display"/>
                <a:cs typeface="Aptos Display"/>
              </a:defRPr>
            </a:pPr>
            <a:r>
              <a:rPr sz="975" b="1">
                <a:solidFill>
                  <a:srgbClr val="2F62E8"/>
                </a:solidFill>
                <a:latin typeface="Aptos Display"/>
                <a:ea typeface="Aptos Display"/>
                <a:cs typeface="Aptos Display"/>
              </a:rPr>
              <a:t>3</a:t>
            </a:r>
          </a:p>
        </p:txBody>
      </p:sp>
      <p:sp>
        <p:nvSpPr>
          <p:cNvPr id="16" name="">
            <a:extLst xmlns:a="http://schemas.openxmlformats.org/drawingml/2006/main">
              <a:ext uri="{FF2B5EF4-FFF2-40B4-BE49-F238E27FC236}">
                <a16:creationId xmlns:a16="http://schemas.microsoft.com/office/drawing/2014/main" id="{CB263AF3-402C-4F55-B494-8A3362DDA728}"/>
              </a:ext>
            </a:extLst>
          </p:cNvPr>
          <p:cNvSpPr>
            <a:spLocks xmlns:a="http://schemas.openxmlformats.org/drawingml/2006/main" noGrp="1"/>
          </p:cNvSpPr>
          <p:nvPr/>
        </p:nvSpPr>
        <p:spPr>
          <a:xfrm xmlns:a="http://schemas.openxmlformats.org/drawingml/2006/main">
            <a:off x="9144000" y="34480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按来源、介质和阈值类型筛选</a:t>
            </a:r>
          </a:p>
        </p:txBody>
      </p:sp>
      <p:sp>
        <p:nvSpPr>
          <p:cNvPr id="17" name="">
            <a:extLst xmlns:a="http://schemas.openxmlformats.org/drawingml/2006/main">
              <a:ext uri="{FF2B5EF4-FFF2-40B4-BE49-F238E27FC236}">
                <a16:creationId xmlns:a16="http://schemas.microsoft.com/office/drawing/2014/main" id="{78436C25-E192-4800-A48E-3EB6BE72C7B8}"/>
              </a:ext>
            </a:extLst>
          </p:cNvPr>
          <p:cNvSpPr>
            <a:spLocks xmlns:a="http://schemas.openxmlformats.org/drawingml/2006/main" noGrp="1"/>
          </p:cNvSpPr>
          <p:nvPr/>
        </p:nvSpPr>
        <p:spPr>
          <a:xfrm xmlns:a="http://schemas.openxmlformats.org/drawingml/2006/main">
            <a:off x="8743950" y="4105275"/>
            <a:ext cx="266700" cy="266700"/>
          </a:xfrm>
          <a:prstGeom xmlns:a="http://schemas.openxmlformats.org/drawingml/2006/main" prst="roundRect">
            <a:avLst>
              <a:gd name="adj" fmla="val 50000"/>
            </a:avLst>
          </a:prstGeom>
          <a:solidFill xmlns:a="http://schemas.openxmlformats.org/drawingml/2006/main">
            <a:srgbClr val="28A66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AD57AD2-1339-45E4-8129-CA8A2C25BBE0}"/>
              </a:ext>
            </a:extLst>
          </p:cNvPr>
          <p:cNvSpPr>
            <a:spLocks xmlns:a="http://schemas.openxmlformats.org/drawingml/2006/main" noGrp="1"/>
          </p:cNvSpPr>
          <p:nvPr/>
        </p:nvSpPr>
        <p:spPr>
          <a:xfrm xmlns:a="http://schemas.openxmlformats.org/drawingml/2006/main">
            <a:off x="8743950" y="41052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4</a:t>
            </a:r>
          </a:p>
        </p:txBody>
      </p:sp>
      <p:sp>
        <p:nvSpPr>
          <p:cNvPr id="19" name="">
            <a:extLst xmlns:a="http://schemas.openxmlformats.org/drawingml/2006/main">
              <a:ext uri="{FF2B5EF4-FFF2-40B4-BE49-F238E27FC236}">
                <a16:creationId xmlns:a16="http://schemas.microsoft.com/office/drawing/2014/main" id="{00BC97D3-F450-4997-BECE-6EC2F4568894}"/>
              </a:ext>
            </a:extLst>
          </p:cNvPr>
          <p:cNvSpPr>
            <a:spLocks xmlns:a="http://schemas.openxmlformats.org/drawingml/2006/main" noGrp="1"/>
          </p:cNvSpPr>
          <p:nvPr/>
        </p:nvSpPr>
        <p:spPr>
          <a:xfrm xmlns:a="http://schemas.openxmlformats.org/drawingml/2006/main">
            <a:off x="9144000" y="40386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6758D"/>
                </a:solidFill>
                <a:latin typeface="Microsoft YaHei"/>
                <a:ea typeface="Microsoft YaHei"/>
                <a:cs typeface="Microsoft YaHei"/>
              </a:defRPr>
            </a:pPr>
            <a:r>
              <a:rPr sz="1200" b="1">
                <a:solidFill>
                  <a:srgbClr val="66758D"/>
                </a:solidFill>
                <a:latin typeface="Microsoft YaHei"/>
                <a:ea typeface="Microsoft YaHei"/>
                <a:cs typeface="Microsoft YaHei"/>
              </a:rPr>
              <a:t>结果自动更新</a:t>
            </a:r>
          </a:p>
        </p:txBody>
      </p:sp>
    </p:spTree>
    <p:extLst>
      <p:ext uri="{BB962C8B-B14F-4D97-AF65-F5344CB8AC3E}">
        <p14:creationId xmlns:p14="http://schemas.microsoft.com/office/powerpoint/2010/main" val="872790544"/>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F50789-5299-49E4-9E50-FEC6A596738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EEB538-AB25-4E12-BE47-EC094EC671BD}"/>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COMPOUND PROFILE</a:t>
            </a:r>
          </a:p>
        </p:txBody>
      </p:sp>
      <p:sp>
        <p:nvSpPr>
          <p:cNvPr id="3" name="">
            <a:extLst xmlns:a="http://schemas.openxmlformats.org/drawingml/2006/main">
              <a:ext uri="{FF2B5EF4-FFF2-40B4-BE49-F238E27FC236}">
                <a16:creationId xmlns:a16="http://schemas.microsoft.com/office/drawing/2014/main" id="{C615196E-7AC0-4AA2-A7E2-4DEED254A294}"/>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化合物档案让同一 CAS 的信息只出现一次</a:t>
            </a:r>
          </a:p>
        </p:txBody>
      </p:sp>
      <p:sp>
        <p:nvSpPr>
          <p:cNvPr id="4" name="">
            <a:extLst xmlns:a="http://schemas.openxmlformats.org/drawingml/2006/main">
              <a:ext uri="{FF2B5EF4-FFF2-40B4-BE49-F238E27FC236}">
                <a16:creationId xmlns:a16="http://schemas.microsoft.com/office/drawing/2014/main" id="{F5728C88-A380-4771-94EB-FF3A7AD86E06}"/>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57ebb6f42e45a7"/>
          <a:srcRect xmlns:a="http://schemas.openxmlformats.org/drawingml/2006/main" l="21" t="0" r="21" b="0"/>
          <a:stretch xmlns:a="http://schemas.openxmlformats.org/drawingml/2006/main">
            <a:fillRect l="0" t="0" r="0" b="0"/>
          </a:stretch>
        </p:blipFill>
        <p:spPr>
          <a:xfrm xmlns:a="http://schemas.openxmlformats.org/drawingml/2006/main">
            <a:off x="552450" y="1333500"/>
            <a:ext cx="7667625" cy="4314825"/>
          </a:xfrm>
          <a:prstGeom xmlns:a="http://schemas.openxmlformats.org/drawingml/2006/main" prst="roundRect">
            <a:avLst>
              <a:gd name="adj" fmla="val 2649"/>
            </a:avLst>
          </a:prstGeom>
        </p:spPr>
      </p:pic>
      <p:sp>
        <p:nvSpPr>
          <p:cNvPr id="6" name="">
            <a:extLst xmlns:a="http://schemas.openxmlformats.org/drawingml/2006/main">
              <a:ext uri="{FF2B5EF4-FFF2-40B4-BE49-F238E27FC236}">
                <a16:creationId xmlns:a16="http://schemas.microsoft.com/office/drawing/2014/main" id="{FD787A34-6067-4C7C-AA86-91078AD1FFE4}"/>
              </a:ext>
            </a:extLst>
          </p:cNvPr>
          <p:cNvSpPr>
            <a:spLocks xmlns:a="http://schemas.openxmlformats.org/drawingml/2006/main" noGrp="1"/>
          </p:cNvSpPr>
          <p:nvPr/>
        </p:nvSpPr>
        <p:spPr>
          <a:xfrm xmlns:a="http://schemas.openxmlformats.org/drawingml/2006/main">
            <a:off x="8667750" y="15049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统一身份锚点</a:t>
            </a:r>
          </a:p>
        </p:txBody>
      </p:sp>
      <p:sp>
        <p:nvSpPr>
          <p:cNvPr id="7" name="">
            <a:extLst xmlns:a="http://schemas.openxmlformats.org/drawingml/2006/main">
              <a:ext uri="{FF2B5EF4-FFF2-40B4-BE49-F238E27FC236}">
                <a16:creationId xmlns:a16="http://schemas.microsoft.com/office/drawing/2014/main" id="{274FA069-2FDB-4727-BCD0-60BA0E9794EE}"/>
              </a:ext>
            </a:extLst>
          </p:cNvPr>
          <p:cNvSpPr>
            <a:spLocks xmlns:a="http://schemas.openxmlformats.org/drawingml/2006/main" noGrp="1"/>
          </p:cNvSpPr>
          <p:nvPr/>
        </p:nvSpPr>
        <p:spPr>
          <a:xfrm xmlns:a="http://schemas.openxmlformats.org/drawingml/2006/main">
            <a:off x="8667750" y="200025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58D"/>
                </a:solidFill>
                <a:latin typeface="Microsoft YaHei"/>
                <a:ea typeface="Microsoft YaHei"/>
                <a:cs typeface="Microsoft YaHei"/>
              </a:defRPr>
            </a:pPr>
            <a:r>
              <a:rPr sz="1425" b="0">
                <a:solidFill>
                  <a:srgbClr val="66758D"/>
                </a:solidFill>
                <a:latin typeface="Microsoft YaHei"/>
                <a:ea typeface="Microsoft YaHei"/>
                <a:cs typeface="Microsoft YaHei"/>
              </a:rPr>
              <a:t>中文名</a:t>
            </a:r>
          </a:p>
          <a:p xmlns:a="http://schemas.openxmlformats.org/drawingml/2006/main">
            <a:pPr algn="l">
              <a:defRPr sz="1425" b="0">
                <a:solidFill>
                  <a:srgbClr val="66758D"/>
                </a:solidFill>
                <a:latin typeface="Microsoft YaHei"/>
                <a:ea typeface="Microsoft YaHei"/>
                <a:cs typeface="Microsoft YaHei"/>
              </a:defRPr>
            </a:pPr>
            <a:r>
              <a:rPr sz="1425" b="0">
                <a:solidFill>
                  <a:srgbClr val="66758D"/>
                </a:solidFill>
                <a:latin typeface="Microsoft YaHei"/>
                <a:ea typeface="Microsoft YaHei"/>
                <a:cs typeface="Microsoft YaHei"/>
              </a:rPr>
              <a:t>常用英文名</a:t>
            </a:r>
          </a:p>
          <a:p xmlns:a="http://schemas.openxmlformats.org/drawingml/2006/main">
            <a:pPr algn="l">
              <a:defRPr sz="1425" b="0">
                <a:solidFill>
                  <a:srgbClr val="66758D"/>
                </a:solidFill>
                <a:latin typeface="Microsoft YaHei"/>
                <a:ea typeface="Microsoft YaHei"/>
                <a:cs typeface="Microsoft YaHei"/>
              </a:defRPr>
            </a:pPr>
            <a:r>
              <a:rPr sz="1425" b="0">
                <a:solidFill>
                  <a:srgbClr val="66758D"/>
                </a:solidFill>
                <a:latin typeface="Microsoft YaHei"/>
                <a:ea typeface="Microsoft YaHei"/>
                <a:cs typeface="Microsoft YaHei"/>
              </a:rPr>
              <a:t>CAS</a:t>
            </a:r>
          </a:p>
          <a:p xmlns:a="http://schemas.openxmlformats.org/drawingml/2006/main">
            <a:pPr algn="l">
              <a:defRPr sz="1425" b="0">
                <a:solidFill>
                  <a:srgbClr val="66758D"/>
                </a:solidFill>
                <a:latin typeface="Microsoft YaHei"/>
                <a:ea typeface="Microsoft YaHei"/>
                <a:cs typeface="Microsoft YaHei"/>
              </a:defRPr>
            </a:pPr>
            <a:r>
              <a:rPr sz="1425" b="0">
                <a:solidFill>
                  <a:srgbClr val="66758D"/>
                </a:solidFill>
                <a:latin typeface="Microsoft YaHei"/>
                <a:ea typeface="Microsoft YaHei"/>
                <a:cs typeface="Microsoft YaHei"/>
              </a:rPr>
              <a:t>PubChem CID</a:t>
            </a:r>
          </a:p>
        </p:txBody>
      </p:sp>
      <p:sp>
        <p:nvSpPr>
          <p:cNvPr id="8" name="">
            <a:extLst xmlns:a="http://schemas.openxmlformats.org/drawingml/2006/main">
              <a:ext uri="{FF2B5EF4-FFF2-40B4-BE49-F238E27FC236}">
                <a16:creationId xmlns:a16="http://schemas.microsoft.com/office/drawing/2014/main" id="{76D2872C-A08E-4C34-B827-B66D80AC5828}"/>
              </a:ext>
            </a:extLst>
          </p:cNvPr>
          <p:cNvSpPr>
            <a:spLocks xmlns:a="http://schemas.openxmlformats.org/drawingml/2006/main" noGrp="1"/>
          </p:cNvSpPr>
          <p:nvPr/>
        </p:nvSpPr>
        <p:spPr>
          <a:xfrm xmlns:a="http://schemas.openxmlformats.org/drawingml/2006/main">
            <a:off x="8572500" y="3810000"/>
            <a:ext cx="2667000" cy="1066800"/>
          </a:xfrm>
          <a:prstGeom xmlns:a="http://schemas.openxmlformats.org/drawingml/2006/main" prst="roundRect">
            <a:avLst>
              <a:gd name="adj" fmla="val 12500"/>
            </a:avLst>
          </a:prstGeom>
          <a:solidFill xmlns:a="http://schemas.openxmlformats.org/drawingml/2006/main">
            <a:srgbClr val="0B12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15C46A6-836B-40E6-8356-B75CA3C5E09D}"/>
              </a:ext>
            </a:extLst>
          </p:cNvPr>
          <p:cNvSpPr>
            <a:spLocks xmlns:a="http://schemas.openxmlformats.org/drawingml/2006/main" noGrp="1"/>
          </p:cNvSpPr>
          <p:nvPr/>
        </p:nvSpPr>
        <p:spPr>
          <a:xfrm xmlns:a="http://schemas.openxmlformats.org/drawingml/2006/main">
            <a:off x="8820150" y="39814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0BFD8"/>
                </a:solidFill>
                <a:latin typeface="Microsoft YaHei"/>
                <a:ea typeface="Microsoft YaHei"/>
                <a:cs typeface="Microsoft YaHei"/>
              </a:defRPr>
            </a:pPr>
            <a:r>
              <a:rPr sz="1050" b="1">
                <a:solidFill>
                  <a:srgbClr val="50BFD8"/>
                </a:solidFill>
                <a:latin typeface="Microsoft YaHei"/>
                <a:ea typeface="Microsoft YaHei"/>
                <a:cs typeface="Microsoft YaHei"/>
              </a:rPr>
              <a:t>目标</a:t>
            </a:r>
          </a:p>
        </p:txBody>
      </p:sp>
      <p:sp>
        <p:nvSpPr>
          <p:cNvPr id="10" name="">
            <a:extLst xmlns:a="http://schemas.openxmlformats.org/drawingml/2006/main">
              <a:ext uri="{FF2B5EF4-FFF2-40B4-BE49-F238E27FC236}">
                <a16:creationId xmlns:a16="http://schemas.microsoft.com/office/drawing/2014/main" id="{E6FAD25E-A30A-47FA-B10A-533504320FAC}"/>
              </a:ext>
            </a:extLst>
          </p:cNvPr>
          <p:cNvSpPr>
            <a:spLocks xmlns:a="http://schemas.openxmlformats.org/drawingml/2006/main" noGrp="1"/>
          </p:cNvSpPr>
          <p:nvPr/>
        </p:nvSpPr>
        <p:spPr>
          <a:xfrm xmlns:a="http://schemas.openxmlformats.org/drawingml/2006/main">
            <a:off x="8820150" y="4257675"/>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减少重复字段</a:t>
            </a:r>
          </a:p>
          <a:p xmlns:a="http://schemas.openxmlformats.org/drawingml/2006/main">
            <a:pPr algn="l">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保留来源差异</a:t>
            </a:r>
          </a:p>
        </p:txBody>
      </p:sp>
    </p:spTree>
    <p:extLst>
      <p:ext uri="{BB962C8B-B14F-4D97-AF65-F5344CB8AC3E}">
        <p14:creationId xmlns:p14="http://schemas.microsoft.com/office/powerpoint/2010/main" val="945601607"/>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D5C4CF3-53F8-4C76-92E7-91F94CE909C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4041F2-47B0-4C8B-9408-0F6C2B6E4803}"/>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SOURCE ARCHITECTURE</a:t>
            </a:r>
          </a:p>
        </p:txBody>
      </p:sp>
      <p:sp>
        <p:nvSpPr>
          <p:cNvPr id="3" name="">
            <a:extLst xmlns:a="http://schemas.openxmlformats.org/drawingml/2006/main">
              <a:ext uri="{FF2B5EF4-FFF2-40B4-BE49-F238E27FC236}">
                <a16:creationId xmlns:a16="http://schemas.microsoft.com/office/drawing/2014/main" id="{DF291247-F501-4C72-85FC-4EB86954FACC}"/>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五类来源各司其职，页面不把证据混成一个答案</a:t>
            </a:r>
          </a:p>
        </p:txBody>
      </p:sp>
      <p:sp>
        <p:nvSpPr>
          <p:cNvPr id="4" name="">
            <a:extLst xmlns:a="http://schemas.openxmlformats.org/drawingml/2006/main">
              <a:ext uri="{FF2B5EF4-FFF2-40B4-BE49-F238E27FC236}">
                <a16:creationId xmlns:a16="http://schemas.microsoft.com/office/drawing/2014/main" id="{8A42D5A5-5ABF-41F7-9CF7-114FAF0E3FB1}"/>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06</a:t>
            </a:r>
          </a:p>
        </p:txBody>
      </p:sp>
      <p:sp>
        <p:nvSpPr>
          <p:cNvPr id="5" name="">
            <a:extLst xmlns:a="http://schemas.openxmlformats.org/drawingml/2006/main">
              <a:ext uri="{FF2B5EF4-FFF2-40B4-BE49-F238E27FC236}">
                <a16:creationId xmlns:a16="http://schemas.microsoft.com/office/drawing/2014/main" id="{955ADF06-6619-4A1E-A5DD-51E63DD93374}"/>
              </a:ext>
            </a:extLst>
          </p:cNvPr>
          <p:cNvSpPr>
            <a:spLocks xmlns:a="http://schemas.openxmlformats.org/drawingml/2006/main" noGrp="1"/>
          </p:cNvSpPr>
          <p:nvPr/>
        </p:nvSpPr>
        <p:spPr>
          <a:xfrm xmlns:a="http://schemas.openxmlformats.org/drawingml/2006/main">
            <a:off x="514350" y="1571625"/>
            <a:ext cx="2000250" cy="3143250"/>
          </a:xfrm>
          <a:prstGeom xmlns:a="http://schemas.openxmlformats.org/drawingml/2006/main" prst="roundRect">
            <a:avLst>
              <a:gd name="adj" fmla="val 7619"/>
            </a:avLst>
          </a:prstGeom>
          <a:solidFill xmlns:a="http://schemas.openxmlformats.org/drawingml/2006/main">
            <a:srgbClr val="EAF1FF"/>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ED129470-193D-431A-A701-88391FA04CB0}"/>
              </a:ext>
            </a:extLst>
          </p:cNvPr>
          <p:cNvSpPr>
            <a:spLocks xmlns:a="http://schemas.openxmlformats.org/drawingml/2006/main" noGrp="1"/>
          </p:cNvSpPr>
          <p:nvPr/>
        </p:nvSpPr>
        <p:spPr>
          <a:xfrm xmlns:a="http://schemas.openxmlformats.org/drawingml/2006/main">
            <a:off x="723900" y="1790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6758D"/>
                </a:solidFill>
                <a:latin typeface="Aptos Display"/>
                <a:ea typeface="Aptos Display"/>
                <a:cs typeface="Aptos Display"/>
              </a:defRPr>
            </a:pPr>
            <a:r>
              <a:rPr sz="1050" b="1">
                <a:solidFill>
                  <a:srgbClr val="66758D"/>
                </a:solidFill>
                <a:latin typeface="Aptos Display"/>
                <a:ea typeface="Aptos Display"/>
                <a:cs typeface="Aptos Display"/>
              </a:rPr>
              <a:t>01</a:t>
            </a:r>
          </a:p>
        </p:txBody>
      </p:sp>
      <p:sp>
        <p:nvSpPr>
          <p:cNvPr id="7" name="">
            <a:extLst xmlns:a="http://schemas.openxmlformats.org/drawingml/2006/main">
              <a:ext uri="{FF2B5EF4-FFF2-40B4-BE49-F238E27FC236}">
                <a16:creationId xmlns:a16="http://schemas.microsoft.com/office/drawing/2014/main" id="{7695265D-EE6B-4A87-B448-992CBCEC58A2}"/>
              </a:ext>
            </a:extLst>
          </p:cNvPr>
          <p:cNvSpPr>
            <a:spLocks xmlns:a="http://schemas.openxmlformats.org/drawingml/2006/main" noGrp="1"/>
          </p:cNvSpPr>
          <p:nvPr/>
        </p:nvSpPr>
        <p:spPr>
          <a:xfrm xmlns:a="http://schemas.openxmlformats.org/drawingml/2006/main">
            <a:off x="723900" y="23050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文献阈值</a:t>
            </a:r>
          </a:p>
        </p:txBody>
      </p:sp>
      <p:sp>
        <p:nvSpPr>
          <p:cNvPr id="8" name="">
            <a:extLst xmlns:a="http://schemas.openxmlformats.org/drawingml/2006/main">
              <a:ext uri="{FF2B5EF4-FFF2-40B4-BE49-F238E27FC236}">
                <a16:creationId xmlns:a16="http://schemas.microsoft.com/office/drawing/2014/main" id="{A947B1CF-7EB5-4F2F-896C-97392C801F8C}"/>
              </a:ext>
            </a:extLst>
          </p:cNvPr>
          <p:cNvSpPr>
            <a:spLocks xmlns:a="http://schemas.openxmlformats.org/drawingml/2006/main" noGrp="1"/>
          </p:cNvSpPr>
          <p:nvPr/>
        </p:nvSpPr>
        <p:spPr>
          <a:xfrm xmlns:a="http://schemas.openxmlformats.org/drawingml/2006/main">
            <a:off x="723900" y="2838450"/>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Van Gemert</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检测介质 · 类型 · 单位</a:t>
            </a:r>
          </a:p>
        </p:txBody>
      </p:sp>
      <p:sp>
        <p:nvSpPr>
          <p:cNvPr id="9" name="">
            <a:extLst xmlns:a="http://schemas.openxmlformats.org/drawingml/2006/main">
              <a:ext uri="{FF2B5EF4-FFF2-40B4-BE49-F238E27FC236}">
                <a16:creationId xmlns:a16="http://schemas.microsoft.com/office/drawing/2014/main" id="{9CA6CF65-F98A-41B2-BD32-3E50BFC46148}"/>
              </a:ext>
            </a:extLst>
          </p:cNvPr>
          <p:cNvSpPr>
            <a:spLocks xmlns:a="http://schemas.openxmlformats.org/drawingml/2006/main" noGrp="1"/>
          </p:cNvSpPr>
          <p:nvPr/>
        </p:nvSpPr>
        <p:spPr>
          <a:xfrm xmlns:a="http://schemas.openxmlformats.org/drawingml/2006/main">
            <a:off x="2809875" y="1571625"/>
            <a:ext cx="2000250" cy="3143250"/>
          </a:xfrm>
          <a:prstGeom xmlns:a="http://schemas.openxmlformats.org/drawingml/2006/main" prst="roundRect">
            <a:avLst>
              <a:gd name="adj" fmla="val 7619"/>
            </a:avLst>
          </a:prstGeom>
          <a:solidFill xmlns:a="http://schemas.openxmlformats.org/drawingml/2006/main">
            <a:srgbClr val="FFF6DF"/>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A59F20F9-ADBA-4D6D-9ABA-B22F10949A27}"/>
              </a:ext>
            </a:extLst>
          </p:cNvPr>
          <p:cNvSpPr>
            <a:spLocks xmlns:a="http://schemas.openxmlformats.org/drawingml/2006/main" noGrp="1"/>
          </p:cNvSpPr>
          <p:nvPr/>
        </p:nvSpPr>
        <p:spPr>
          <a:xfrm xmlns:a="http://schemas.openxmlformats.org/drawingml/2006/main">
            <a:off x="3019425" y="1790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6758D"/>
                </a:solidFill>
                <a:latin typeface="Aptos Display"/>
                <a:ea typeface="Aptos Display"/>
                <a:cs typeface="Aptos Display"/>
              </a:defRPr>
            </a:pPr>
            <a:r>
              <a:rPr sz="1050" b="1">
                <a:solidFill>
                  <a:srgbClr val="66758D"/>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1DFAAD6C-E7E5-47E4-B6A6-BB376A30FAB1}"/>
              </a:ext>
            </a:extLst>
          </p:cNvPr>
          <p:cNvSpPr>
            <a:spLocks xmlns:a="http://schemas.openxmlformats.org/drawingml/2006/main" noGrp="1"/>
          </p:cNvSpPr>
          <p:nvPr/>
        </p:nvSpPr>
        <p:spPr>
          <a:xfrm xmlns:a="http://schemas.openxmlformats.org/drawingml/2006/main">
            <a:off x="3019425" y="23050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酒类应用</a:t>
            </a:r>
          </a:p>
        </p:txBody>
      </p:sp>
      <p:sp>
        <p:nvSpPr>
          <p:cNvPr id="12" name="">
            <a:extLst xmlns:a="http://schemas.openxmlformats.org/drawingml/2006/main">
              <a:ext uri="{FF2B5EF4-FFF2-40B4-BE49-F238E27FC236}">
                <a16:creationId xmlns:a16="http://schemas.microsoft.com/office/drawing/2014/main" id="{C986259B-A051-4E5B-A7BF-D146CAC3B662}"/>
              </a:ext>
            </a:extLst>
          </p:cNvPr>
          <p:cNvSpPr>
            <a:spLocks xmlns:a="http://schemas.openxmlformats.org/drawingml/2006/main" noGrp="1"/>
          </p:cNvSpPr>
          <p:nvPr/>
        </p:nvSpPr>
        <p:spPr>
          <a:xfrm xmlns:a="http://schemas.openxmlformats.org/drawingml/2006/main">
            <a:off x="3019425" y="2838450"/>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Fan &amp; Xu</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页码 · 原文片段</a:t>
            </a:r>
          </a:p>
        </p:txBody>
      </p:sp>
      <p:sp>
        <p:nvSpPr>
          <p:cNvPr id="13" name="">
            <a:extLst xmlns:a="http://schemas.openxmlformats.org/drawingml/2006/main">
              <a:ext uri="{FF2B5EF4-FFF2-40B4-BE49-F238E27FC236}">
                <a16:creationId xmlns:a16="http://schemas.microsoft.com/office/drawing/2014/main" id="{E9436C46-772A-44EF-B39C-2EDA72DB0C6E}"/>
              </a:ext>
            </a:extLst>
          </p:cNvPr>
          <p:cNvSpPr>
            <a:spLocks xmlns:a="http://schemas.openxmlformats.org/drawingml/2006/main" noGrp="1"/>
          </p:cNvSpPr>
          <p:nvPr/>
        </p:nvSpPr>
        <p:spPr>
          <a:xfrm xmlns:a="http://schemas.openxmlformats.org/drawingml/2006/main">
            <a:off x="5105400" y="1571625"/>
            <a:ext cx="2000250" cy="3143250"/>
          </a:xfrm>
          <a:prstGeom xmlns:a="http://schemas.openxmlformats.org/drawingml/2006/main" prst="roundRect">
            <a:avLst>
              <a:gd name="adj" fmla="val 7619"/>
            </a:avLst>
          </a:prstGeom>
          <a:solidFill xmlns:a="http://schemas.openxmlformats.org/drawingml/2006/main">
            <a:srgbClr val="C4E4A4"/>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E3E6E551-853F-4C92-AC71-16134CAD8131}"/>
              </a:ext>
            </a:extLst>
          </p:cNvPr>
          <p:cNvSpPr>
            <a:spLocks xmlns:a="http://schemas.openxmlformats.org/drawingml/2006/main" noGrp="1"/>
          </p:cNvSpPr>
          <p:nvPr/>
        </p:nvSpPr>
        <p:spPr>
          <a:xfrm xmlns:a="http://schemas.openxmlformats.org/drawingml/2006/main">
            <a:off x="5314950" y="1790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6758D"/>
                </a:solidFill>
                <a:latin typeface="Aptos Display"/>
                <a:ea typeface="Aptos Display"/>
                <a:cs typeface="Aptos Display"/>
              </a:defRPr>
            </a:pPr>
            <a:r>
              <a:rPr sz="1050" b="1">
                <a:solidFill>
                  <a:srgbClr val="66758D"/>
                </a:solidFill>
                <a:latin typeface="Aptos Display"/>
                <a:ea typeface="Aptos Display"/>
                <a:cs typeface="Aptos Display"/>
              </a:rPr>
              <a:t>03</a:t>
            </a:r>
          </a:p>
        </p:txBody>
      </p:sp>
      <p:sp>
        <p:nvSpPr>
          <p:cNvPr id="15" name="">
            <a:extLst xmlns:a="http://schemas.openxmlformats.org/drawingml/2006/main">
              <a:ext uri="{FF2B5EF4-FFF2-40B4-BE49-F238E27FC236}">
                <a16:creationId xmlns:a16="http://schemas.microsoft.com/office/drawing/2014/main" id="{72F00EC7-E690-42D8-9A25-C7EBC07A64DB}"/>
              </a:ext>
            </a:extLst>
          </p:cNvPr>
          <p:cNvSpPr>
            <a:spLocks xmlns:a="http://schemas.openxmlformats.org/drawingml/2006/main" noGrp="1"/>
          </p:cNvSpPr>
          <p:nvPr/>
        </p:nvSpPr>
        <p:spPr>
          <a:xfrm xmlns:a="http://schemas.openxmlformats.org/drawingml/2006/main">
            <a:off x="5314950" y="23050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风味描述</a:t>
            </a:r>
          </a:p>
        </p:txBody>
      </p:sp>
      <p:sp>
        <p:nvSpPr>
          <p:cNvPr id="16" name="">
            <a:extLst xmlns:a="http://schemas.openxmlformats.org/drawingml/2006/main">
              <a:ext uri="{FF2B5EF4-FFF2-40B4-BE49-F238E27FC236}">
                <a16:creationId xmlns:a16="http://schemas.microsoft.com/office/drawing/2014/main" id="{B1C73A34-BAD3-40D8-99AB-41D474357CD9}"/>
              </a:ext>
            </a:extLst>
          </p:cNvPr>
          <p:cNvSpPr>
            <a:spLocks xmlns:a="http://schemas.openxmlformats.org/drawingml/2006/main" noGrp="1"/>
          </p:cNvSpPr>
          <p:nvPr/>
        </p:nvSpPr>
        <p:spPr>
          <a:xfrm xmlns:a="http://schemas.openxmlformats.org/drawingml/2006/main">
            <a:off x="5314950" y="2838450"/>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FEMA</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规范化风味词</a:t>
            </a:r>
          </a:p>
        </p:txBody>
      </p:sp>
      <p:sp>
        <p:nvSpPr>
          <p:cNvPr id="17" name="">
            <a:extLst xmlns:a="http://schemas.openxmlformats.org/drawingml/2006/main">
              <a:ext uri="{FF2B5EF4-FFF2-40B4-BE49-F238E27FC236}">
                <a16:creationId xmlns:a16="http://schemas.microsoft.com/office/drawing/2014/main" id="{A9411691-5F70-4A68-A9C0-3C15A68FAD18}"/>
              </a:ext>
            </a:extLst>
          </p:cNvPr>
          <p:cNvSpPr>
            <a:spLocks xmlns:a="http://schemas.openxmlformats.org/drawingml/2006/main" noGrp="1"/>
          </p:cNvSpPr>
          <p:nvPr/>
        </p:nvSpPr>
        <p:spPr>
          <a:xfrm xmlns:a="http://schemas.openxmlformats.org/drawingml/2006/main">
            <a:off x="7400925" y="1571625"/>
            <a:ext cx="2000250" cy="3143250"/>
          </a:xfrm>
          <a:prstGeom xmlns:a="http://schemas.openxmlformats.org/drawingml/2006/main" prst="roundRect">
            <a:avLst>
              <a:gd name="adj" fmla="val 7619"/>
            </a:avLst>
          </a:prstGeom>
          <a:solidFill xmlns:a="http://schemas.openxmlformats.org/drawingml/2006/main">
            <a:srgbClr val="ECACD8"/>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C7ACB43F-D432-4CB5-B814-682ECCD78A94}"/>
              </a:ext>
            </a:extLst>
          </p:cNvPr>
          <p:cNvSpPr>
            <a:spLocks xmlns:a="http://schemas.openxmlformats.org/drawingml/2006/main" noGrp="1"/>
          </p:cNvSpPr>
          <p:nvPr/>
        </p:nvSpPr>
        <p:spPr>
          <a:xfrm xmlns:a="http://schemas.openxmlformats.org/drawingml/2006/main">
            <a:off x="7610475" y="1790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6758D"/>
                </a:solidFill>
                <a:latin typeface="Aptos Display"/>
                <a:ea typeface="Aptos Display"/>
                <a:cs typeface="Aptos Display"/>
              </a:defRPr>
            </a:pPr>
            <a:r>
              <a:rPr sz="1050" b="1">
                <a:solidFill>
                  <a:srgbClr val="66758D"/>
                </a:solidFill>
                <a:latin typeface="Aptos Display"/>
                <a:ea typeface="Aptos Display"/>
                <a:cs typeface="Aptos Display"/>
              </a:rPr>
              <a:t>04</a:t>
            </a:r>
          </a:p>
        </p:txBody>
      </p:sp>
      <p:sp>
        <p:nvSpPr>
          <p:cNvPr id="19" name="">
            <a:extLst xmlns:a="http://schemas.openxmlformats.org/drawingml/2006/main">
              <a:ext uri="{FF2B5EF4-FFF2-40B4-BE49-F238E27FC236}">
                <a16:creationId xmlns:a16="http://schemas.microsoft.com/office/drawing/2014/main" id="{3081704D-FC11-4C90-A752-08E67362FCCF}"/>
              </a:ext>
            </a:extLst>
          </p:cNvPr>
          <p:cNvSpPr>
            <a:spLocks xmlns:a="http://schemas.openxmlformats.org/drawingml/2006/main" noGrp="1"/>
          </p:cNvSpPr>
          <p:nvPr/>
        </p:nvSpPr>
        <p:spPr>
          <a:xfrm xmlns:a="http://schemas.openxmlformats.org/drawingml/2006/main">
            <a:off x="7610475" y="23050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化学身份</a:t>
            </a:r>
          </a:p>
        </p:txBody>
      </p:sp>
      <p:sp>
        <p:nvSpPr>
          <p:cNvPr id="20" name="">
            <a:extLst xmlns:a="http://schemas.openxmlformats.org/drawingml/2006/main">
              <a:ext uri="{FF2B5EF4-FFF2-40B4-BE49-F238E27FC236}">
                <a16:creationId xmlns:a16="http://schemas.microsoft.com/office/drawing/2014/main" id="{870C57BA-FC33-48C7-9459-EF7FD215B0FE}"/>
              </a:ext>
            </a:extLst>
          </p:cNvPr>
          <p:cNvSpPr>
            <a:spLocks xmlns:a="http://schemas.openxmlformats.org/drawingml/2006/main" noGrp="1"/>
          </p:cNvSpPr>
          <p:nvPr/>
        </p:nvSpPr>
        <p:spPr>
          <a:xfrm xmlns:a="http://schemas.openxmlformats.org/drawingml/2006/main">
            <a:off x="7610475" y="2838450"/>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PubChem</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结构 · 理化性质</a:t>
            </a:r>
          </a:p>
        </p:txBody>
      </p:sp>
      <p:sp>
        <p:nvSpPr>
          <p:cNvPr id="21" name="">
            <a:extLst xmlns:a="http://schemas.openxmlformats.org/drawingml/2006/main">
              <a:ext uri="{FF2B5EF4-FFF2-40B4-BE49-F238E27FC236}">
                <a16:creationId xmlns:a16="http://schemas.microsoft.com/office/drawing/2014/main" id="{3E0CF8B2-CE26-465C-A02F-A0C7BDC2B914}"/>
              </a:ext>
            </a:extLst>
          </p:cNvPr>
          <p:cNvSpPr>
            <a:spLocks xmlns:a="http://schemas.openxmlformats.org/drawingml/2006/main" noGrp="1"/>
          </p:cNvSpPr>
          <p:nvPr/>
        </p:nvSpPr>
        <p:spPr>
          <a:xfrm xmlns:a="http://schemas.openxmlformats.org/drawingml/2006/main">
            <a:off x="9696450" y="1571625"/>
            <a:ext cx="2000250" cy="3143250"/>
          </a:xfrm>
          <a:prstGeom xmlns:a="http://schemas.openxmlformats.org/drawingml/2006/main" prst="roundRect">
            <a:avLst>
              <a:gd name="adj" fmla="val 7619"/>
            </a:avLst>
          </a:prstGeom>
          <a:solidFill xmlns:a="http://schemas.openxmlformats.org/drawingml/2006/main">
            <a:srgbClr val="F4ACAC"/>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A5ADC683-6365-41E0-89EA-0B144886B334}"/>
              </a:ext>
            </a:extLst>
          </p:cNvPr>
          <p:cNvSpPr>
            <a:spLocks xmlns:a="http://schemas.openxmlformats.org/drawingml/2006/main" noGrp="1"/>
          </p:cNvSpPr>
          <p:nvPr/>
        </p:nvSpPr>
        <p:spPr>
          <a:xfrm xmlns:a="http://schemas.openxmlformats.org/drawingml/2006/main">
            <a:off x="9906000" y="17907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66758D"/>
                </a:solidFill>
                <a:latin typeface="Aptos Display"/>
                <a:ea typeface="Aptos Display"/>
                <a:cs typeface="Aptos Display"/>
              </a:defRPr>
            </a:pPr>
            <a:r>
              <a:rPr sz="1050" b="1">
                <a:solidFill>
                  <a:srgbClr val="66758D"/>
                </a:solidFill>
                <a:latin typeface="Aptos Display"/>
                <a:ea typeface="Aptos Display"/>
                <a:cs typeface="Aptos Display"/>
              </a:rPr>
              <a:t>05</a:t>
            </a:r>
          </a:p>
        </p:txBody>
      </p:sp>
      <p:sp>
        <p:nvSpPr>
          <p:cNvPr id="23" name="">
            <a:extLst xmlns:a="http://schemas.openxmlformats.org/drawingml/2006/main">
              <a:ext uri="{FF2B5EF4-FFF2-40B4-BE49-F238E27FC236}">
                <a16:creationId xmlns:a16="http://schemas.microsoft.com/office/drawing/2014/main" id="{A8AC0D24-1173-470B-93F7-0605F6623476}"/>
              </a:ext>
            </a:extLst>
          </p:cNvPr>
          <p:cNvSpPr>
            <a:spLocks xmlns:a="http://schemas.openxmlformats.org/drawingml/2006/main" noGrp="1"/>
          </p:cNvSpPr>
          <p:nvPr/>
        </p:nvSpPr>
        <p:spPr>
          <a:xfrm xmlns:a="http://schemas.openxmlformats.org/drawingml/2006/main">
            <a:off x="9906000" y="2305050"/>
            <a:ext cx="1581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风味分子</a:t>
            </a:r>
          </a:p>
        </p:txBody>
      </p:sp>
      <p:sp>
        <p:nvSpPr>
          <p:cNvPr id="24" name="">
            <a:extLst xmlns:a="http://schemas.openxmlformats.org/drawingml/2006/main">
              <a:ext uri="{FF2B5EF4-FFF2-40B4-BE49-F238E27FC236}">
                <a16:creationId xmlns:a16="http://schemas.microsoft.com/office/drawing/2014/main" id="{1CA90270-FF9C-4122-8034-6C841B23B6D8}"/>
              </a:ext>
            </a:extLst>
          </p:cNvPr>
          <p:cNvSpPr>
            <a:spLocks xmlns:a="http://schemas.openxmlformats.org/drawingml/2006/main" noGrp="1"/>
          </p:cNvSpPr>
          <p:nvPr/>
        </p:nvSpPr>
        <p:spPr>
          <a:xfrm xmlns:a="http://schemas.openxmlformats.org/drawingml/2006/main">
            <a:off x="9906000" y="2838450"/>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FlavorDB</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描述 · 官能团</a:t>
            </a:r>
          </a:p>
        </p:txBody>
      </p:sp>
      <p:sp>
        <p:nvSpPr>
          <p:cNvPr id="25" name="">
            <a:extLst xmlns:a="http://schemas.openxmlformats.org/drawingml/2006/main">
              <a:ext uri="{FF2B5EF4-FFF2-40B4-BE49-F238E27FC236}">
                <a16:creationId xmlns:a16="http://schemas.microsoft.com/office/drawing/2014/main" id="{9AC6C1B7-474F-4BB0-867D-6ECBA1B96716}"/>
              </a:ext>
            </a:extLst>
          </p:cNvPr>
          <p:cNvSpPr>
            <a:spLocks xmlns:a="http://schemas.openxmlformats.org/drawingml/2006/main" noGrp="1"/>
          </p:cNvSpPr>
          <p:nvPr/>
        </p:nvSpPr>
        <p:spPr>
          <a:xfrm xmlns:a="http://schemas.openxmlformats.org/drawingml/2006/main">
            <a:off x="1619250" y="5286375"/>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F62E8"/>
                </a:solidFill>
                <a:latin typeface="Microsoft YaHei"/>
                <a:ea typeface="Microsoft YaHei"/>
                <a:cs typeface="Microsoft YaHei"/>
              </a:defRPr>
            </a:pPr>
            <a:r>
              <a:rPr sz="1650" b="1">
                <a:solidFill>
                  <a:srgbClr val="2F62E8"/>
                </a:solidFill>
                <a:latin typeface="Microsoft YaHei"/>
                <a:ea typeface="Microsoft YaHei"/>
                <a:cs typeface="Microsoft YaHei"/>
              </a:rPr>
              <a:t>来源颜色贯穿筛选按钮、结果卡片和导出字段</a:t>
            </a:r>
          </a:p>
        </p:txBody>
      </p:sp>
    </p:spTree>
    <p:extLst>
      <p:ext uri="{BB962C8B-B14F-4D97-AF65-F5344CB8AC3E}">
        <p14:creationId xmlns:p14="http://schemas.microsoft.com/office/powerpoint/2010/main" val="1145453967"/>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CFBE053-922D-4F94-9DCA-A29580877B9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789B24-64DE-44F7-98C1-9D7FED09C2AA}"/>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CHEMICAL IDENTITY</a:t>
            </a:r>
          </a:p>
        </p:txBody>
      </p:sp>
      <p:sp>
        <p:nvSpPr>
          <p:cNvPr id="3" name="">
            <a:extLst xmlns:a="http://schemas.openxmlformats.org/drawingml/2006/main">
              <a:ext uri="{FF2B5EF4-FFF2-40B4-BE49-F238E27FC236}">
                <a16:creationId xmlns:a16="http://schemas.microsoft.com/office/drawing/2014/main" id="{49C91A09-4D99-4855-9339-C36FC27D6295}"/>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结构、理化性质和 SMARTS 分类被放进同一个化学身份区</a:t>
            </a:r>
          </a:p>
        </p:txBody>
      </p:sp>
      <p:sp>
        <p:nvSpPr>
          <p:cNvPr id="4" name="">
            <a:extLst xmlns:a="http://schemas.openxmlformats.org/drawingml/2006/main">
              <a:ext uri="{FF2B5EF4-FFF2-40B4-BE49-F238E27FC236}">
                <a16:creationId xmlns:a16="http://schemas.microsoft.com/office/drawing/2014/main" id="{7A88ED8E-308A-43C9-8FD4-C9804AD42444}"/>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07</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fd6e1f8d5dc4d26"/>
          <a:srcRect xmlns:a="http://schemas.openxmlformats.org/drawingml/2006/main" l="0" t="27" r="0" b="27"/>
          <a:stretch xmlns:a="http://schemas.openxmlformats.org/drawingml/2006/main">
            <a:fillRect l="0" t="0" r="0" b="0"/>
          </a:stretch>
        </p:blipFill>
        <p:spPr>
          <a:xfrm xmlns:a="http://schemas.openxmlformats.org/drawingml/2006/main">
            <a:off x="552450" y="1314450"/>
            <a:ext cx="7810500" cy="4391025"/>
          </a:xfrm>
          <a:prstGeom xmlns:a="http://schemas.openxmlformats.org/drawingml/2006/main" prst="roundRect">
            <a:avLst>
              <a:gd name="adj" fmla="val 2603"/>
            </a:avLst>
          </a:prstGeom>
        </p:spPr>
      </p:pic>
      <p:sp>
        <p:nvSpPr>
          <p:cNvPr id="6" name="">
            <a:extLst xmlns:a="http://schemas.openxmlformats.org/drawingml/2006/main">
              <a:ext uri="{FF2B5EF4-FFF2-40B4-BE49-F238E27FC236}">
                <a16:creationId xmlns:a16="http://schemas.microsoft.com/office/drawing/2014/main" id="{FA989E52-5988-4D8B-B8EC-C9FF3A86AA2D}"/>
              </a:ext>
            </a:extLst>
          </p:cNvPr>
          <p:cNvSpPr>
            <a:spLocks xmlns:a="http://schemas.openxmlformats.org/drawingml/2006/main" noGrp="1"/>
          </p:cNvSpPr>
          <p:nvPr/>
        </p:nvSpPr>
        <p:spPr>
          <a:xfrm xmlns:a="http://schemas.openxmlformats.org/drawingml/2006/main">
            <a:off x="8763000" y="14763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41C2E"/>
                </a:solidFill>
                <a:latin typeface="Microsoft YaHei"/>
                <a:ea typeface="Microsoft YaHei"/>
                <a:cs typeface="Microsoft YaHei"/>
              </a:defRPr>
            </a:pPr>
            <a:r>
              <a:rPr sz="1650" b="1">
                <a:solidFill>
                  <a:srgbClr val="141C2E"/>
                </a:solidFill>
                <a:latin typeface="Microsoft YaHei"/>
                <a:ea typeface="Microsoft YaHei"/>
                <a:cs typeface="Microsoft YaHei"/>
              </a:rPr>
              <a:t>可查看</a:t>
            </a:r>
          </a:p>
        </p:txBody>
      </p:sp>
      <p:sp>
        <p:nvSpPr>
          <p:cNvPr id="7" name="">
            <a:extLst xmlns:a="http://schemas.openxmlformats.org/drawingml/2006/main">
              <a:ext uri="{FF2B5EF4-FFF2-40B4-BE49-F238E27FC236}">
                <a16:creationId xmlns:a16="http://schemas.microsoft.com/office/drawing/2014/main" id="{3E4FCC19-0F38-44CC-A192-E1F33052F49C}"/>
              </a:ext>
            </a:extLst>
          </p:cNvPr>
          <p:cNvSpPr>
            <a:spLocks xmlns:a="http://schemas.openxmlformats.org/drawingml/2006/main" noGrp="1"/>
          </p:cNvSpPr>
          <p:nvPr/>
        </p:nvSpPr>
        <p:spPr>
          <a:xfrm xmlns:a="http://schemas.openxmlformats.org/drawingml/2006/main">
            <a:off x="8763000" y="2047875"/>
            <a:ext cx="95250" cy="95250"/>
          </a:xfrm>
          <a:prstGeom xmlns:a="http://schemas.openxmlformats.org/drawingml/2006/main" prst="roundRect">
            <a:avLst>
              <a:gd name="adj" fmla="val 50000"/>
            </a:avLst>
          </a:prstGeom>
          <a:solidFill xmlns:a="http://schemas.openxmlformats.org/drawingml/2006/main">
            <a:srgbClr val="ECAC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8E0167A-F84B-438B-B46E-E3884DF0D235}"/>
              </a:ext>
            </a:extLst>
          </p:cNvPr>
          <p:cNvSpPr>
            <a:spLocks xmlns:a="http://schemas.openxmlformats.org/drawingml/2006/main" noGrp="1"/>
          </p:cNvSpPr>
          <p:nvPr/>
        </p:nvSpPr>
        <p:spPr>
          <a:xfrm xmlns:a="http://schemas.openxmlformats.org/drawingml/2006/main">
            <a:off x="9010650" y="19240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2D 结构</a:t>
            </a:r>
          </a:p>
        </p:txBody>
      </p:sp>
      <p:sp>
        <p:nvSpPr>
          <p:cNvPr id="9" name="">
            <a:extLst xmlns:a="http://schemas.openxmlformats.org/drawingml/2006/main">
              <a:ext uri="{FF2B5EF4-FFF2-40B4-BE49-F238E27FC236}">
                <a16:creationId xmlns:a16="http://schemas.microsoft.com/office/drawing/2014/main" id="{07B02E7A-448F-41D3-8CD5-0B26C16532A1}"/>
              </a:ext>
            </a:extLst>
          </p:cNvPr>
          <p:cNvSpPr>
            <a:spLocks xmlns:a="http://schemas.openxmlformats.org/drawingml/2006/main" noGrp="1"/>
          </p:cNvSpPr>
          <p:nvPr/>
        </p:nvSpPr>
        <p:spPr>
          <a:xfrm xmlns:a="http://schemas.openxmlformats.org/drawingml/2006/main">
            <a:off x="8763000" y="2590800"/>
            <a:ext cx="95250" cy="95250"/>
          </a:xfrm>
          <a:prstGeom xmlns:a="http://schemas.openxmlformats.org/drawingml/2006/main" prst="roundRect">
            <a:avLst>
              <a:gd name="adj" fmla="val 50000"/>
            </a:avLst>
          </a:prstGeom>
          <a:solidFill xmlns:a="http://schemas.openxmlformats.org/drawingml/2006/main">
            <a:srgbClr val="ECAC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B78895-1F43-4B05-A235-04EFF704FECA}"/>
              </a:ext>
            </a:extLst>
          </p:cNvPr>
          <p:cNvSpPr>
            <a:spLocks xmlns:a="http://schemas.openxmlformats.org/drawingml/2006/main" noGrp="1"/>
          </p:cNvSpPr>
          <p:nvPr/>
        </p:nvSpPr>
        <p:spPr>
          <a:xfrm xmlns:a="http://schemas.openxmlformats.org/drawingml/2006/main">
            <a:off x="9010650" y="24669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交互式 3D 构象</a:t>
            </a:r>
          </a:p>
        </p:txBody>
      </p:sp>
      <p:sp>
        <p:nvSpPr>
          <p:cNvPr id="11" name="">
            <a:extLst xmlns:a="http://schemas.openxmlformats.org/drawingml/2006/main">
              <a:ext uri="{FF2B5EF4-FFF2-40B4-BE49-F238E27FC236}">
                <a16:creationId xmlns:a16="http://schemas.microsoft.com/office/drawing/2014/main" id="{6119F2DF-BD6C-4648-9F98-D3E6A58A9331}"/>
              </a:ext>
            </a:extLst>
          </p:cNvPr>
          <p:cNvSpPr>
            <a:spLocks xmlns:a="http://schemas.openxmlformats.org/drawingml/2006/main" noGrp="1"/>
          </p:cNvSpPr>
          <p:nvPr/>
        </p:nvSpPr>
        <p:spPr>
          <a:xfrm xmlns:a="http://schemas.openxmlformats.org/drawingml/2006/main">
            <a:off x="8763000" y="3133725"/>
            <a:ext cx="95250" cy="95250"/>
          </a:xfrm>
          <a:prstGeom xmlns:a="http://schemas.openxmlformats.org/drawingml/2006/main" prst="roundRect">
            <a:avLst>
              <a:gd name="adj" fmla="val 50000"/>
            </a:avLst>
          </a:prstGeom>
          <a:solidFill xmlns:a="http://schemas.openxmlformats.org/drawingml/2006/main">
            <a:srgbClr val="ECAC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AE8B1A-62D6-4A66-B98B-B6289A099F08}"/>
              </a:ext>
            </a:extLst>
          </p:cNvPr>
          <p:cNvSpPr>
            <a:spLocks xmlns:a="http://schemas.openxmlformats.org/drawingml/2006/main" noGrp="1"/>
          </p:cNvSpPr>
          <p:nvPr/>
        </p:nvSpPr>
        <p:spPr>
          <a:xfrm xmlns:a="http://schemas.openxmlformats.org/drawingml/2006/main">
            <a:off x="9010650" y="30099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晶体结构记录</a:t>
            </a:r>
          </a:p>
        </p:txBody>
      </p:sp>
      <p:sp>
        <p:nvSpPr>
          <p:cNvPr id="13" name="">
            <a:extLst xmlns:a="http://schemas.openxmlformats.org/drawingml/2006/main">
              <a:ext uri="{FF2B5EF4-FFF2-40B4-BE49-F238E27FC236}">
                <a16:creationId xmlns:a16="http://schemas.microsoft.com/office/drawing/2014/main" id="{2ED2D49E-7533-443E-A60F-11D6AFFCB91A}"/>
              </a:ext>
            </a:extLst>
          </p:cNvPr>
          <p:cNvSpPr>
            <a:spLocks xmlns:a="http://schemas.openxmlformats.org/drawingml/2006/main" noGrp="1"/>
          </p:cNvSpPr>
          <p:nvPr/>
        </p:nvSpPr>
        <p:spPr>
          <a:xfrm xmlns:a="http://schemas.openxmlformats.org/drawingml/2006/main">
            <a:off x="8763000" y="3676650"/>
            <a:ext cx="95250" cy="95250"/>
          </a:xfrm>
          <a:prstGeom xmlns:a="http://schemas.openxmlformats.org/drawingml/2006/main" prst="roundRect">
            <a:avLst>
              <a:gd name="adj" fmla="val 50000"/>
            </a:avLst>
          </a:prstGeom>
          <a:solidFill xmlns:a="http://schemas.openxmlformats.org/drawingml/2006/main">
            <a:srgbClr val="2F62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95954A7-8F53-4031-9808-582F4946BDB7}"/>
              </a:ext>
            </a:extLst>
          </p:cNvPr>
          <p:cNvSpPr>
            <a:spLocks xmlns:a="http://schemas.openxmlformats.org/drawingml/2006/main" noGrp="1"/>
          </p:cNvSpPr>
          <p:nvPr/>
        </p:nvSpPr>
        <p:spPr>
          <a:xfrm xmlns:a="http://schemas.openxmlformats.org/drawingml/2006/main">
            <a:off x="9010650" y="355282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6758D"/>
                </a:solidFill>
                <a:latin typeface="Microsoft YaHei"/>
                <a:ea typeface="Microsoft YaHei"/>
                <a:cs typeface="Microsoft YaHei"/>
              </a:defRPr>
            </a:pPr>
            <a:r>
              <a:rPr sz="1275" b="0">
                <a:solidFill>
                  <a:srgbClr val="66758D"/>
                </a:solidFill>
                <a:latin typeface="Microsoft YaHei"/>
                <a:ea typeface="Microsoft YaHei"/>
                <a:cs typeface="Microsoft YaHei"/>
              </a:rPr>
              <a:t>分子式与理化性质</a:t>
            </a:r>
          </a:p>
        </p:txBody>
      </p:sp>
      <p:sp>
        <p:nvSpPr>
          <p:cNvPr id="15" name="">
            <a:extLst xmlns:a="http://schemas.openxmlformats.org/drawingml/2006/main">
              <a:ext uri="{FF2B5EF4-FFF2-40B4-BE49-F238E27FC236}">
                <a16:creationId xmlns:a16="http://schemas.microsoft.com/office/drawing/2014/main" id="{41CE77CF-CC76-45D3-B92F-02DF6FF7E3CE}"/>
              </a:ext>
            </a:extLst>
          </p:cNvPr>
          <p:cNvSpPr>
            <a:spLocks xmlns:a="http://schemas.openxmlformats.org/drawingml/2006/main" noGrp="1"/>
          </p:cNvSpPr>
          <p:nvPr/>
        </p:nvSpPr>
        <p:spPr>
          <a:xfrm xmlns:a="http://schemas.openxmlformats.org/drawingml/2006/main">
            <a:off x="8763000" y="4219575"/>
            <a:ext cx="95250" cy="95250"/>
          </a:xfrm>
          <a:prstGeom xmlns:a="http://schemas.openxmlformats.org/drawingml/2006/main" prst="roundRect">
            <a:avLst>
              <a:gd name="adj" fmla="val 50000"/>
            </a:avLst>
          </a:prstGeom>
          <a:solidFill xmlns:a="http://schemas.openxmlformats.org/drawingml/2006/main">
            <a:srgbClr val="2F62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D325154-FAF7-409A-B62C-AB6527ACAE89}"/>
              </a:ext>
            </a:extLst>
          </p:cNvPr>
          <p:cNvSpPr>
            <a:spLocks xmlns:a="http://schemas.openxmlformats.org/drawingml/2006/main" noGrp="1"/>
          </p:cNvSpPr>
          <p:nvPr/>
        </p:nvSpPr>
        <p:spPr>
          <a:xfrm xmlns:a="http://schemas.openxmlformats.org/drawingml/2006/main">
            <a:off x="9010650" y="40957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66758D"/>
                </a:solidFill>
                <a:latin typeface="Microsoft YaHei"/>
                <a:ea typeface="Microsoft YaHei"/>
                <a:cs typeface="Microsoft YaHei"/>
              </a:defRPr>
            </a:pPr>
            <a:r>
              <a:rPr sz="1275" b="1">
                <a:solidFill>
                  <a:srgbClr val="66758D"/>
                </a:solidFill>
                <a:latin typeface="Microsoft YaHei"/>
                <a:ea typeface="Microsoft YaHei"/>
                <a:cs typeface="Microsoft YaHei"/>
              </a:rPr>
              <a:t>主要化合物类别</a:t>
            </a:r>
          </a:p>
        </p:txBody>
      </p:sp>
    </p:spTree>
    <p:extLst>
      <p:ext uri="{BB962C8B-B14F-4D97-AF65-F5344CB8AC3E}">
        <p14:creationId xmlns:p14="http://schemas.microsoft.com/office/powerpoint/2010/main" val="47638013"/>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7EA2F44-4CDE-44D1-A771-3EDC2277D01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631960-9975-44BA-BB64-6E7EDD38FE4E}"/>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TRACEABILITY</a:t>
            </a:r>
          </a:p>
        </p:txBody>
      </p:sp>
      <p:sp>
        <p:nvSpPr>
          <p:cNvPr id="3" name="">
            <a:extLst xmlns:a="http://schemas.openxmlformats.org/drawingml/2006/main">
              <a:ext uri="{FF2B5EF4-FFF2-40B4-BE49-F238E27FC236}">
                <a16:creationId xmlns:a16="http://schemas.microsoft.com/office/drawing/2014/main" id="{81D20054-F88B-4656-97D8-2A16DD3F2BA8}"/>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阈值记录按“较新年份、较低阈值”优先，但原始记录不丢失</a:t>
            </a:r>
          </a:p>
        </p:txBody>
      </p:sp>
      <p:sp>
        <p:nvSpPr>
          <p:cNvPr id="4" name="">
            <a:extLst xmlns:a="http://schemas.openxmlformats.org/drawingml/2006/main">
              <a:ext uri="{FF2B5EF4-FFF2-40B4-BE49-F238E27FC236}">
                <a16:creationId xmlns:a16="http://schemas.microsoft.com/office/drawing/2014/main" id="{57399D9C-A929-42B7-B08F-BF3CABBF0F1D}"/>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08</a:t>
            </a:r>
          </a:p>
        </p:txBody>
      </p:sp>
      <p:sp>
        <p:nvSpPr>
          <p:cNvPr id="5" name="">
            <a:extLst xmlns:a="http://schemas.openxmlformats.org/drawingml/2006/main">
              <a:ext uri="{FF2B5EF4-FFF2-40B4-BE49-F238E27FC236}">
                <a16:creationId xmlns:a16="http://schemas.microsoft.com/office/drawing/2014/main" id="{DE380645-D1DB-4BA2-AF12-DFC5DE026E6B}"/>
              </a:ext>
            </a:extLst>
          </p:cNvPr>
          <p:cNvSpPr>
            <a:spLocks xmlns:a="http://schemas.openxmlformats.org/drawingml/2006/main" noGrp="1"/>
          </p:cNvSpPr>
          <p:nvPr/>
        </p:nvSpPr>
        <p:spPr>
          <a:xfrm xmlns:a="http://schemas.openxmlformats.org/drawingml/2006/main">
            <a:off x="666750" y="1428750"/>
            <a:ext cx="4762500" cy="3905250"/>
          </a:xfrm>
          <a:prstGeom xmlns:a="http://schemas.openxmlformats.org/drawingml/2006/main" prst="roundRect">
            <a:avLst>
              <a:gd name="adj" fmla="val 3415"/>
            </a:avLst>
          </a:prstGeom>
          <a:solidFill xmlns:a="http://schemas.openxmlformats.org/drawingml/2006/main">
            <a:srgbClr val="FFFFFF"/>
          </a:solidFill>
          <a:ln xmlns:a="http://schemas.openxmlformats.org/drawingml/2006/main" w="9525">
            <a:solidFill>
              <a:srgbClr val="DDE4EF"/>
            </a:solidFill>
            <a:prstDash val="solid"/>
          </a:ln>
        </p:spPr>
      </p:sp>
      <p:sp>
        <p:nvSpPr>
          <p:cNvPr id="6" name="">
            <a:extLst xmlns:a="http://schemas.openxmlformats.org/drawingml/2006/main">
              <a:ext uri="{FF2B5EF4-FFF2-40B4-BE49-F238E27FC236}">
                <a16:creationId xmlns:a16="http://schemas.microsoft.com/office/drawing/2014/main" id="{5A7A955A-1CA4-4752-87CD-F1266F39FEFD}"/>
              </a:ext>
            </a:extLst>
          </p:cNvPr>
          <p:cNvSpPr>
            <a:spLocks xmlns:a="http://schemas.openxmlformats.org/drawingml/2006/main" noGrp="1"/>
          </p:cNvSpPr>
          <p:nvPr/>
        </p:nvSpPr>
        <p:spPr>
          <a:xfrm xmlns:a="http://schemas.openxmlformats.org/drawingml/2006/main">
            <a:off x="1000125" y="1714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41C2E"/>
                </a:solidFill>
                <a:latin typeface="Microsoft YaHei"/>
                <a:ea typeface="Microsoft YaHei"/>
                <a:cs typeface="Microsoft YaHei"/>
              </a:defRPr>
            </a:pPr>
            <a:r>
              <a:rPr sz="1800" b="1">
                <a:solidFill>
                  <a:srgbClr val="141C2E"/>
                </a:solidFill>
                <a:latin typeface="Microsoft YaHei"/>
                <a:ea typeface="Microsoft YaHei"/>
                <a:cs typeface="Microsoft YaHei"/>
              </a:rPr>
              <a:t>优先展示逻辑</a:t>
            </a:r>
          </a:p>
        </p:txBody>
      </p:sp>
      <p:sp>
        <p:nvSpPr>
          <p:cNvPr id="7" name="">
            <a:extLst xmlns:a="http://schemas.openxmlformats.org/drawingml/2006/main">
              <a:ext uri="{FF2B5EF4-FFF2-40B4-BE49-F238E27FC236}">
                <a16:creationId xmlns:a16="http://schemas.microsoft.com/office/drawing/2014/main" id="{9A36B5DC-AD0A-423D-BA3D-DE9EFC700EB7}"/>
              </a:ext>
            </a:extLst>
          </p:cNvPr>
          <p:cNvSpPr>
            <a:spLocks xmlns:a="http://schemas.openxmlformats.org/drawingml/2006/main" noGrp="1"/>
          </p:cNvSpPr>
          <p:nvPr/>
        </p:nvSpPr>
        <p:spPr>
          <a:xfrm xmlns:a="http://schemas.openxmlformats.org/drawingml/2006/main">
            <a:off x="1028700" y="23812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2F62E8"/>
                </a:solidFill>
                <a:latin typeface="Aptos Display"/>
                <a:ea typeface="Aptos Display"/>
                <a:cs typeface="Aptos Display"/>
              </a:defRPr>
            </a:pPr>
            <a:r>
              <a:rPr sz="2100" b="1">
                <a:solidFill>
                  <a:srgbClr val="2F62E8"/>
                </a:solidFill>
                <a:latin typeface="Aptos Display"/>
                <a:ea typeface="Aptos Display"/>
                <a:cs typeface="Aptos Display"/>
              </a:rPr>
              <a:t>1</a:t>
            </a:r>
          </a:p>
        </p:txBody>
      </p:sp>
      <p:sp>
        <p:nvSpPr>
          <p:cNvPr id="8" name="">
            <a:extLst xmlns:a="http://schemas.openxmlformats.org/drawingml/2006/main">
              <a:ext uri="{FF2B5EF4-FFF2-40B4-BE49-F238E27FC236}">
                <a16:creationId xmlns:a16="http://schemas.microsoft.com/office/drawing/2014/main" id="{0A69F630-48D2-4ADB-AB61-2BE8A01D06F6}"/>
              </a:ext>
            </a:extLst>
          </p:cNvPr>
          <p:cNvSpPr>
            <a:spLocks xmlns:a="http://schemas.openxmlformats.org/drawingml/2006/main" noGrp="1"/>
          </p:cNvSpPr>
          <p:nvPr/>
        </p:nvSpPr>
        <p:spPr>
          <a:xfrm xmlns:a="http://schemas.openxmlformats.org/drawingml/2006/main">
            <a:off x="1638300" y="238125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41C2E"/>
                </a:solidFill>
                <a:latin typeface="Microsoft YaHei"/>
                <a:ea typeface="Microsoft YaHei"/>
                <a:cs typeface="Microsoft YaHei"/>
              </a:defRPr>
            </a:pPr>
            <a:r>
              <a:rPr sz="1425" b="1">
                <a:solidFill>
                  <a:srgbClr val="141C2E"/>
                </a:solidFill>
                <a:latin typeface="Microsoft YaHei"/>
                <a:ea typeface="Microsoft YaHei"/>
                <a:cs typeface="Microsoft YaHei"/>
              </a:rPr>
              <a:t>优先较近发表年份</a:t>
            </a:r>
          </a:p>
        </p:txBody>
      </p:sp>
      <p:sp>
        <p:nvSpPr>
          <p:cNvPr id="9" name="">
            <a:extLst xmlns:a="http://schemas.openxmlformats.org/drawingml/2006/main">
              <a:ext uri="{FF2B5EF4-FFF2-40B4-BE49-F238E27FC236}">
                <a16:creationId xmlns:a16="http://schemas.microsoft.com/office/drawing/2014/main" id="{5ED71059-3F71-484A-AE8E-005237170953}"/>
              </a:ext>
            </a:extLst>
          </p:cNvPr>
          <p:cNvSpPr>
            <a:spLocks xmlns:a="http://schemas.openxmlformats.org/drawingml/2006/main" noGrp="1"/>
          </p:cNvSpPr>
          <p:nvPr/>
        </p:nvSpPr>
        <p:spPr>
          <a:xfrm xmlns:a="http://schemas.openxmlformats.org/drawingml/2006/main">
            <a:off x="1028700" y="30956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2F62E8"/>
                </a:solidFill>
                <a:latin typeface="Aptos Display"/>
                <a:ea typeface="Aptos Display"/>
                <a:cs typeface="Aptos Display"/>
              </a:defRPr>
            </a:pPr>
            <a:r>
              <a:rPr sz="2100" b="1">
                <a:solidFill>
                  <a:srgbClr val="2F62E8"/>
                </a:solidFill>
                <a:latin typeface="Aptos Display"/>
                <a:ea typeface="Aptos Display"/>
                <a:cs typeface="Aptos Display"/>
              </a:rPr>
              <a:t>2</a:t>
            </a:r>
          </a:p>
        </p:txBody>
      </p:sp>
      <p:sp>
        <p:nvSpPr>
          <p:cNvPr id="10" name="">
            <a:extLst xmlns:a="http://schemas.openxmlformats.org/drawingml/2006/main">
              <a:ext uri="{FF2B5EF4-FFF2-40B4-BE49-F238E27FC236}">
                <a16:creationId xmlns:a16="http://schemas.microsoft.com/office/drawing/2014/main" id="{8BAABF35-74D9-4015-AC16-B7D7B30D3D35}"/>
              </a:ext>
            </a:extLst>
          </p:cNvPr>
          <p:cNvSpPr>
            <a:spLocks xmlns:a="http://schemas.openxmlformats.org/drawingml/2006/main" noGrp="1"/>
          </p:cNvSpPr>
          <p:nvPr/>
        </p:nvSpPr>
        <p:spPr>
          <a:xfrm xmlns:a="http://schemas.openxmlformats.org/drawingml/2006/main">
            <a:off x="1638300" y="3095625"/>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41C2E"/>
                </a:solidFill>
                <a:latin typeface="Microsoft YaHei"/>
                <a:ea typeface="Microsoft YaHei"/>
                <a:cs typeface="Microsoft YaHei"/>
              </a:defRPr>
            </a:pPr>
            <a:r>
              <a:rPr sz="1425" b="1">
                <a:solidFill>
                  <a:srgbClr val="141C2E"/>
                </a:solidFill>
                <a:latin typeface="Microsoft YaHei"/>
                <a:ea typeface="Microsoft YaHei"/>
                <a:cs typeface="Microsoft YaHei"/>
              </a:rPr>
              <a:t>同年优先较低阈值</a:t>
            </a:r>
          </a:p>
        </p:txBody>
      </p:sp>
      <p:sp>
        <p:nvSpPr>
          <p:cNvPr id="11" name="">
            <a:extLst xmlns:a="http://schemas.openxmlformats.org/drawingml/2006/main">
              <a:ext uri="{FF2B5EF4-FFF2-40B4-BE49-F238E27FC236}">
                <a16:creationId xmlns:a16="http://schemas.microsoft.com/office/drawing/2014/main" id="{3ADE5AE3-DF78-4CC6-B2D5-18454D8AC7B8}"/>
              </a:ext>
            </a:extLst>
          </p:cNvPr>
          <p:cNvSpPr>
            <a:spLocks xmlns:a="http://schemas.openxmlformats.org/drawingml/2006/main" noGrp="1"/>
          </p:cNvSpPr>
          <p:nvPr/>
        </p:nvSpPr>
        <p:spPr>
          <a:xfrm xmlns:a="http://schemas.openxmlformats.org/drawingml/2006/main">
            <a:off x="1028700" y="38100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2F62E8"/>
                </a:solidFill>
                <a:latin typeface="Aptos Display"/>
                <a:ea typeface="Aptos Display"/>
                <a:cs typeface="Aptos Display"/>
              </a:defRPr>
            </a:pPr>
            <a:r>
              <a:rPr sz="2100" b="1">
                <a:solidFill>
                  <a:srgbClr val="2F62E8"/>
                </a:solidFill>
                <a:latin typeface="Aptos Display"/>
                <a:ea typeface="Aptos Display"/>
                <a:cs typeface="Aptos Display"/>
              </a:rPr>
              <a:t>3</a:t>
            </a:r>
          </a:p>
        </p:txBody>
      </p:sp>
      <p:sp>
        <p:nvSpPr>
          <p:cNvPr id="12" name="">
            <a:extLst xmlns:a="http://schemas.openxmlformats.org/drawingml/2006/main">
              <a:ext uri="{FF2B5EF4-FFF2-40B4-BE49-F238E27FC236}">
                <a16:creationId xmlns:a16="http://schemas.microsoft.com/office/drawing/2014/main" id="{3CC9CFE1-41D7-4E11-A0A5-A1BDCE2F9902}"/>
              </a:ext>
            </a:extLst>
          </p:cNvPr>
          <p:cNvSpPr>
            <a:spLocks xmlns:a="http://schemas.openxmlformats.org/drawingml/2006/main" noGrp="1"/>
          </p:cNvSpPr>
          <p:nvPr/>
        </p:nvSpPr>
        <p:spPr>
          <a:xfrm xmlns:a="http://schemas.openxmlformats.org/drawingml/2006/main">
            <a:off x="1638300" y="381000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41C2E"/>
                </a:solidFill>
                <a:latin typeface="Microsoft YaHei"/>
                <a:ea typeface="Microsoft YaHei"/>
                <a:cs typeface="Microsoft YaHei"/>
              </a:defRPr>
            </a:pPr>
            <a:r>
              <a:rPr sz="1425" b="1">
                <a:solidFill>
                  <a:srgbClr val="141C2E"/>
                </a:solidFill>
                <a:latin typeface="Microsoft YaHei"/>
                <a:ea typeface="Microsoft YaHei"/>
                <a:cs typeface="Microsoft YaHei"/>
              </a:rPr>
              <a:t>其余记录折叠保留</a:t>
            </a:r>
          </a:p>
        </p:txBody>
      </p:sp>
      <p:sp>
        <p:nvSpPr>
          <p:cNvPr id="13" name="">
            <a:extLst xmlns:a="http://schemas.openxmlformats.org/drawingml/2006/main">
              <a:ext uri="{FF2B5EF4-FFF2-40B4-BE49-F238E27FC236}">
                <a16:creationId xmlns:a16="http://schemas.microsoft.com/office/drawing/2014/main" id="{732791AF-08AC-4948-9DC7-FCAADE987433}"/>
              </a:ext>
            </a:extLst>
          </p:cNvPr>
          <p:cNvSpPr>
            <a:spLocks xmlns:a="http://schemas.openxmlformats.org/drawingml/2006/main" noGrp="1"/>
          </p:cNvSpPr>
          <p:nvPr/>
        </p:nvSpPr>
        <p:spPr>
          <a:xfrm xmlns:a="http://schemas.openxmlformats.org/drawingml/2006/main">
            <a:off x="5905500" y="1428750"/>
            <a:ext cx="5429250" cy="3905250"/>
          </a:xfrm>
          <a:prstGeom xmlns:a="http://schemas.openxmlformats.org/drawingml/2006/main" prst="roundRect">
            <a:avLst>
              <a:gd name="adj" fmla="val 3415"/>
            </a:avLst>
          </a:prstGeom>
          <a:solidFill xmlns:a="http://schemas.openxmlformats.org/drawingml/2006/main">
            <a:srgbClr val="0B122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BBD1F2F-7377-4483-AF9C-9BD69F8AD931}"/>
              </a:ext>
            </a:extLst>
          </p:cNvPr>
          <p:cNvSpPr>
            <a:spLocks xmlns:a="http://schemas.openxmlformats.org/drawingml/2006/main" noGrp="1"/>
          </p:cNvSpPr>
          <p:nvPr/>
        </p:nvSpPr>
        <p:spPr>
          <a:xfrm xmlns:a="http://schemas.openxmlformats.org/drawingml/2006/main">
            <a:off x="6238875" y="1714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FFFFF"/>
                </a:solidFill>
                <a:latin typeface="Microsoft YaHei"/>
                <a:ea typeface="Microsoft YaHei"/>
                <a:cs typeface="Microsoft YaHei"/>
              </a:defRPr>
            </a:pPr>
            <a:r>
              <a:rPr sz="1800" b="1">
                <a:solidFill>
                  <a:srgbClr val="FFFFFF"/>
                </a:solidFill>
                <a:latin typeface="Microsoft YaHei"/>
                <a:ea typeface="Microsoft YaHei"/>
                <a:cs typeface="Microsoft YaHei"/>
              </a:rPr>
              <a:t>可追溯字段</a:t>
            </a:r>
          </a:p>
        </p:txBody>
      </p:sp>
      <p:sp>
        <p:nvSpPr>
          <p:cNvPr id="15" name="">
            <a:extLst xmlns:a="http://schemas.openxmlformats.org/drawingml/2006/main">
              <a:ext uri="{FF2B5EF4-FFF2-40B4-BE49-F238E27FC236}">
                <a16:creationId xmlns:a16="http://schemas.microsoft.com/office/drawing/2014/main" id="{D4BF8C3B-D993-4CA6-8C3F-DA8A1888FA31}"/>
              </a:ext>
            </a:extLst>
          </p:cNvPr>
          <p:cNvSpPr>
            <a:spLocks xmlns:a="http://schemas.openxmlformats.org/drawingml/2006/main" noGrp="1"/>
          </p:cNvSpPr>
          <p:nvPr/>
        </p:nvSpPr>
        <p:spPr>
          <a:xfrm xmlns:a="http://schemas.openxmlformats.org/drawingml/2006/main">
            <a:off x="6238875" y="23241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AD5E7"/>
                </a:solidFill>
                <a:latin typeface="Microsoft YaHei"/>
                <a:ea typeface="Microsoft YaHei"/>
                <a:cs typeface="Microsoft YaHei"/>
              </a:defRPr>
            </a:pPr>
            <a:r>
              <a:rPr sz="1275" b="0">
                <a:solidFill>
                  <a:srgbClr val="CAD5E7"/>
                </a:solidFill>
                <a:latin typeface="Microsoft YaHei"/>
                <a:ea typeface="Microsoft YaHei"/>
                <a:cs typeface="Microsoft YaHei"/>
              </a:rPr>
              <a:t>文献来源</a:t>
            </a:r>
          </a:p>
        </p:txBody>
      </p:sp>
      <p:sp>
        <p:nvSpPr>
          <p:cNvPr id="16" name="">
            <a:extLst xmlns:a="http://schemas.openxmlformats.org/drawingml/2006/main">
              <a:ext uri="{FF2B5EF4-FFF2-40B4-BE49-F238E27FC236}">
                <a16:creationId xmlns:a16="http://schemas.microsoft.com/office/drawing/2014/main" id="{70AC345D-2C31-4C74-B606-E170410C0D02}"/>
              </a:ext>
            </a:extLst>
          </p:cNvPr>
          <p:cNvSpPr>
            <a:spLocks xmlns:a="http://schemas.openxmlformats.org/drawingml/2006/main" noGrp="1"/>
          </p:cNvSpPr>
          <p:nvPr/>
        </p:nvSpPr>
        <p:spPr>
          <a:xfrm xmlns:a="http://schemas.openxmlformats.org/drawingml/2006/main">
            <a:off x="8858250" y="2438400"/>
            <a:ext cx="1809750" cy="9525"/>
          </a:xfrm>
          <a:prstGeom xmlns:a="http://schemas.openxmlformats.org/drawingml/2006/main" prst="rect">
            <a:avLst/>
          </a:prstGeom>
          <a:solidFill xmlns:a="http://schemas.openxmlformats.org/drawingml/2006/main">
            <a:srgbClr val="3344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E036302-D4FA-468C-A8FD-A60AAA94853C}"/>
              </a:ext>
            </a:extLst>
          </p:cNvPr>
          <p:cNvSpPr>
            <a:spLocks xmlns:a="http://schemas.openxmlformats.org/drawingml/2006/main" noGrp="1"/>
          </p:cNvSpPr>
          <p:nvPr/>
        </p:nvSpPr>
        <p:spPr>
          <a:xfrm xmlns:a="http://schemas.openxmlformats.org/drawingml/2006/main">
            <a:off x="6238875" y="28194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AD5E7"/>
                </a:solidFill>
                <a:latin typeface="Microsoft YaHei"/>
                <a:ea typeface="Microsoft YaHei"/>
                <a:cs typeface="Microsoft YaHei"/>
              </a:defRPr>
            </a:pPr>
            <a:r>
              <a:rPr sz="1275" b="0">
                <a:solidFill>
                  <a:srgbClr val="CAD5E7"/>
                </a:solidFill>
                <a:latin typeface="Microsoft YaHei"/>
                <a:ea typeface="Microsoft YaHei"/>
                <a:cs typeface="Microsoft YaHei"/>
              </a:rPr>
              <a:t>检测介质</a:t>
            </a:r>
          </a:p>
        </p:txBody>
      </p:sp>
      <p:sp>
        <p:nvSpPr>
          <p:cNvPr id="18" name="">
            <a:extLst xmlns:a="http://schemas.openxmlformats.org/drawingml/2006/main">
              <a:ext uri="{FF2B5EF4-FFF2-40B4-BE49-F238E27FC236}">
                <a16:creationId xmlns:a16="http://schemas.microsoft.com/office/drawing/2014/main" id="{2ECCC6D4-C79D-4350-8B26-A573933370A7}"/>
              </a:ext>
            </a:extLst>
          </p:cNvPr>
          <p:cNvSpPr>
            <a:spLocks xmlns:a="http://schemas.openxmlformats.org/drawingml/2006/main" noGrp="1"/>
          </p:cNvSpPr>
          <p:nvPr/>
        </p:nvSpPr>
        <p:spPr>
          <a:xfrm xmlns:a="http://schemas.openxmlformats.org/drawingml/2006/main">
            <a:off x="8858250" y="2933700"/>
            <a:ext cx="1809750" cy="9525"/>
          </a:xfrm>
          <a:prstGeom xmlns:a="http://schemas.openxmlformats.org/drawingml/2006/main" prst="rect">
            <a:avLst/>
          </a:prstGeom>
          <a:solidFill xmlns:a="http://schemas.openxmlformats.org/drawingml/2006/main">
            <a:srgbClr val="33445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3D945DA-B685-423E-A557-D89C50A5D4C9}"/>
              </a:ext>
            </a:extLst>
          </p:cNvPr>
          <p:cNvSpPr>
            <a:spLocks xmlns:a="http://schemas.openxmlformats.org/drawingml/2006/main" noGrp="1"/>
          </p:cNvSpPr>
          <p:nvPr/>
        </p:nvSpPr>
        <p:spPr>
          <a:xfrm xmlns:a="http://schemas.openxmlformats.org/drawingml/2006/main">
            <a:off x="6238875" y="3314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AD5E7"/>
                </a:solidFill>
                <a:latin typeface="Microsoft YaHei"/>
                <a:ea typeface="Microsoft YaHei"/>
                <a:cs typeface="Microsoft YaHei"/>
              </a:defRPr>
            </a:pPr>
            <a:r>
              <a:rPr sz="1275" b="0">
                <a:solidFill>
                  <a:srgbClr val="CAD5E7"/>
                </a:solidFill>
                <a:latin typeface="Microsoft YaHei"/>
                <a:ea typeface="Microsoft YaHei"/>
                <a:cs typeface="Microsoft YaHei"/>
              </a:rPr>
              <a:t>阈值类型</a:t>
            </a:r>
          </a:p>
        </p:txBody>
      </p:sp>
      <p:sp>
        <p:nvSpPr>
          <p:cNvPr id="20" name="">
            <a:extLst xmlns:a="http://schemas.openxmlformats.org/drawingml/2006/main">
              <a:ext uri="{FF2B5EF4-FFF2-40B4-BE49-F238E27FC236}">
                <a16:creationId xmlns:a16="http://schemas.microsoft.com/office/drawing/2014/main" id="{25999140-06EC-44AD-B083-31E91557A6AD}"/>
              </a:ext>
            </a:extLst>
          </p:cNvPr>
          <p:cNvSpPr>
            <a:spLocks xmlns:a="http://schemas.openxmlformats.org/drawingml/2006/main" noGrp="1"/>
          </p:cNvSpPr>
          <p:nvPr/>
        </p:nvSpPr>
        <p:spPr>
          <a:xfrm xmlns:a="http://schemas.openxmlformats.org/drawingml/2006/main">
            <a:off x="8858250" y="3429000"/>
            <a:ext cx="1809750" cy="9525"/>
          </a:xfrm>
          <a:prstGeom xmlns:a="http://schemas.openxmlformats.org/drawingml/2006/main" prst="rect">
            <a:avLst/>
          </a:prstGeom>
          <a:solidFill xmlns:a="http://schemas.openxmlformats.org/drawingml/2006/main">
            <a:srgbClr val="3344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AA7E79A-BA7D-4813-B17E-3838D19B3A74}"/>
              </a:ext>
            </a:extLst>
          </p:cNvPr>
          <p:cNvSpPr>
            <a:spLocks xmlns:a="http://schemas.openxmlformats.org/drawingml/2006/main" noGrp="1"/>
          </p:cNvSpPr>
          <p:nvPr/>
        </p:nvSpPr>
        <p:spPr>
          <a:xfrm xmlns:a="http://schemas.openxmlformats.org/drawingml/2006/main">
            <a:off x="6238875" y="38100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AD5E7"/>
                </a:solidFill>
                <a:latin typeface="Microsoft YaHei"/>
                <a:ea typeface="Microsoft YaHei"/>
                <a:cs typeface="Microsoft YaHei"/>
              </a:defRPr>
            </a:pPr>
            <a:r>
              <a:rPr sz="1275" b="0">
                <a:solidFill>
                  <a:srgbClr val="CAD5E7"/>
                </a:solidFill>
                <a:latin typeface="Microsoft YaHei"/>
                <a:ea typeface="Microsoft YaHei"/>
                <a:cs typeface="Microsoft YaHei"/>
              </a:rPr>
              <a:t>数值与单位</a:t>
            </a:r>
          </a:p>
        </p:txBody>
      </p:sp>
      <p:sp>
        <p:nvSpPr>
          <p:cNvPr id="22" name="">
            <a:extLst xmlns:a="http://schemas.openxmlformats.org/drawingml/2006/main">
              <a:ext uri="{FF2B5EF4-FFF2-40B4-BE49-F238E27FC236}">
                <a16:creationId xmlns:a16="http://schemas.microsoft.com/office/drawing/2014/main" id="{BA351C4E-24A0-4F11-A1D4-0AF7EB74DC10}"/>
              </a:ext>
            </a:extLst>
          </p:cNvPr>
          <p:cNvSpPr>
            <a:spLocks xmlns:a="http://schemas.openxmlformats.org/drawingml/2006/main" noGrp="1"/>
          </p:cNvSpPr>
          <p:nvPr/>
        </p:nvSpPr>
        <p:spPr>
          <a:xfrm xmlns:a="http://schemas.openxmlformats.org/drawingml/2006/main">
            <a:off x="8858250" y="3924300"/>
            <a:ext cx="1809750" cy="9525"/>
          </a:xfrm>
          <a:prstGeom xmlns:a="http://schemas.openxmlformats.org/drawingml/2006/main" prst="rect">
            <a:avLst/>
          </a:prstGeom>
          <a:solidFill xmlns:a="http://schemas.openxmlformats.org/drawingml/2006/main">
            <a:srgbClr val="33445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276D77-D566-4976-81DD-D9420217B217}"/>
              </a:ext>
            </a:extLst>
          </p:cNvPr>
          <p:cNvSpPr>
            <a:spLocks xmlns:a="http://schemas.openxmlformats.org/drawingml/2006/main" noGrp="1"/>
          </p:cNvSpPr>
          <p:nvPr/>
        </p:nvSpPr>
        <p:spPr>
          <a:xfrm xmlns:a="http://schemas.openxmlformats.org/drawingml/2006/main">
            <a:off x="6238875" y="4305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CAD5E7"/>
                </a:solidFill>
                <a:latin typeface="Microsoft YaHei"/>
                <a:ea typeface="Microsoft YaHei"/>
                <a:cs typeface="Microsoft YaHei"/>
              </a:defRPr>
            </a:pPr>
            <a:r>
              <a:rPr sz="1275" b="0">
                <a:solidFill>
                  <a:srgbClr val="CAD5E7"/>
                </a:solidFill>
                <a:latin typeface="Microsoft YaHei"/>
                <a:ea typeface="Microsoft YaHei"/>
                <a:cs typeface="Microsoft YaHei"/>
              </a:rPr>
              <a:t>页码 / 原始记录</a:t>
            </a:r>
          </a:p>
        </p:txBody>
      </p:sp>
      <p:sp>
        <p:nvSpPr>
          <p:cNvPr id="24" name="">
            <a:extLst xmlns:a="http://schemas.openxmlformats.org/drawingml/2006/main">
              <a:ext uri="{FF2B5EF4-FFF2-40B4-BE49-F238E27FC236}">
                <a16:creationId xmlns:a16="http://schemas.microsoft.com/office/drawing/2014/main" id="{677E751A-68CD-445A-8820-501B693F2CD5}"/>
              </a:ext>
            </a:extLst>
          </p:cNvPr>
          <p:cNvSpPr>
            <a:spLocks xmlns:a="http://schemas.openxmlformats.org/drawingml/2006/main" noGrp="1"/>
          </p:cNvSpPr>
          <p:nvPr/>
        </p:nvSpPr>
        <p:spPr>
          <a:xfrm xmlns:a="http://schemas.openxmlformats.org/drawingml/2006/main">
            <a:off x="8858250" y="4419600"/>
            <a:ext cx="1809750" cy="9525"/>
          </a:xfrm>
          <a:prstGeom xmlns:a="http://schemas.openxmlformats.org/drawingml/2006/main" prst="rect">
            <a:avLst/>
          </a:prstGeom>
          <a:solidFill xmlns:a="http://schemas.openxmlformats.org/drawingml/2006/main">
            <a:srgbClr val="33445F"/>
          </a:solidFill>
          <a:ln xmlns:a="http://schemas.openxmlformats.org/drawingml/2006/main" w="0">
            <a:noFill/>
            <a:prstDash val="solid"/>
          </a:ln>
        </p:spPr>
      </p:sp>
    </p:spTree>
    <p:extLst>
      <p:ext uri="{BB962C8B-B14F-4D97-AF65-F5344CB8AC3E}">
        <p14:creationId xmlns:p14="http://schemas.microsoft.com/office/powerpoint/2010/main" val="1338026258"/>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268EAF-0497-4A2C-9C64-8AC92EA6150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8BD31B-80DD-42EB-BF3D-9C2633FE4662}"/>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USAGE ANALYTICS</a:t>
            </a:r>
          </a:p>
        </p:txBody>
      </p:sp>
      <p:sp>
        <p:nvSpPr>
          <p:cNvPr id="3" name="">
            <a:extLst xmlns:a="http://schemas.openxmlformats.org/drawingml/2006/main">
              <a:ext uri="{FF2B5EF4-FFF2-40B4-BE49-F238E27FC236}">
                <a16:creationId xmlns:a16="http://schemas.microsoft.com/office/drawing/2014/main" id="{A0F86219-8719-4D29-8E0E-2DA8E40F6481}"/>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匿名活动统计帮助用户发现高频化合物</a:t>
            </a:r>
          </a:p>
        </p:txBody>
      </p:sp>
      <p:sp>
        <p:nvSpPr>
          <p:cNvPr id="4" name="">
            <a:extLst xmlns:a="http://schemas.openxmlformats.org/drawingml/2006/main">
              <a:ext uri="{FF2B5EF4-FFF2-40B4-BE49-F238E27FC236}">
                <a16:creationId xmlns:a16="http://schemas.microsoft.com/office/drawing/2014/main" id="{321E0FA9-FE11-49B3-95E7-5E59C00F95E2}"/>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09</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6f07c12b6584446"/>
          <a:srcRect xmlns:a="http://schemas.openxmlformats.org/drawingml/2006/main" l="0" t="42" r="0" b="42"/>
          <a:stretch xmlns:a="http://schemas.openxmlformats.org/drawingml/2006/main">
            <a:fillRect l="0" t="0" r="0" b="0"/>
          </a:stretch>
        </p:blipFill>
        <p:spPr>
          <a:xfrm xmlns:a="http://schemas.openxmlformats.org/drawingml/2006/main">
            <a:off x="552450" y="1333500"/>
            <a:ext cx="7524750" cy="4229100"/>
          </a:xfrm>
          <a:prstGeom xmlns:a="http://schemas.openxmlformats.org/drawingml/2006/main" prst="roundRect">
            <a:avLst>
              <a:gd name="adj" fmla="val 2703"/>
            </a:avLst>
          </a:prstGeom>
        </p:spPr>
      </p:pic>
      <p:sp>
        <p:nvSpPr>
          <p:cNvPr id="6" name="">
            <a:extLst xmlns:a="http://schemas.openxmlformats.org/drawingml/2006/main">
              <a:ext uri="{FF2B5EF4-FFF2-40B4-BE49-F238E27FC236}">
                <a16:creationId xmlns:a16="http://schemas.microsoft.com/office/drawing/2014/main" id="{CF07196D-DB49-44C4-B377-CFFD299ADCDB}"/>
              </a:ext>
            </a:extLst>
          </p:cNvPr>
          <p:cNvSpPr>
            <a:spLocks xmlns:a="http://schemas.openxmlformats.org/drawingml/2006/main" noGrp="1"/>
          </p:cNvSpPr>
          <p:nvPr/>
        </p:nvSpPr>
        <p:spPr>
          <a:xfrm xmlns:a="http://schemas.openxmlformats.org/drawingml/2006/main">
            <a:off x="8572500" y="14763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1C2E"/>
                </a:solidFill>
                <a:latin typeface="Microsoft YaHei"/>
                <a:ea typeface="Microsoft YaHei"/>
                <a:cs typeface="Microsoft YaHei"/>
              </a:defRPr>
            </a:pPr>
            <a:r>
              <a:rPr sz="1725" b="1">
                <a:solidFill>
                  <a:srgbClr val="141C2E"/>
                </a:solidFill>
                <a:latin typeface="Microsoft YaHei"/>
                <a:ea typeface="Microsoft YaHei"/>
                <a:cs typeface="Microsoft YaHei"/>
              </a:rPr>
              <a:t>Supabase 记录</a:t>
            </a:r>
          </a:p>
        </p:txBody>
      </p:sp>
      <p:sp>
        <p:nvSpPr>
          <p:cNvPr id="7" name="">
            <a:extLst xmlns:a="http://schemas.openxmlformats.org/drawingml/2006/main">
              <a:ext uri="{FF2B5EF4-FFF2-40B4-BE49-F238E27FC236}">
                <a16:creationId xmlns:a16="http://schemas.microsoft.com/office/drawing/2014/main" id="{1AA0F12F-A2D1-4142-B3D1-E85C67A4A669}"/>
              </a:ext>
            </a:extLst>
          </p:cNvPr>
          <p:cNvSpPr>
            <a:spLocks xmlns:a="http://schemas.openxmlformats.org/drawingml/2006/main" noGrp="1"/>
          </p:cNvSpPr>
          <p:nvPr/>
        </p:nvSpPr>
        <p:spPr>
          <a:xfrm xmlns:a="http://schemas.openxmlformats.org/drawingml/2006/main">
            <a:off x="8572500" y="2095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1C2E"/>
                </a:solidFill>
                <a:latin typeface="Microsoft YaHei"/>
                <a:ea typeface="Microsoft YaHei"/>
                <a:cs typeface="Microsoft YaHei"/>
              </a:defRPr>
            </a:pPr>
            <a:r>
              <a:rPr sz="1350" b="1">
                <a:solidFill>
                  <a:srgbClr val="141C2E"/>
                </a:solidFill>
                <a:latin typeface="Microsoft YaHei"/>
                <a:ea typeface="Microsoft YaHei"/>
                <a:cs typeface="Microsoft YaHei"/>
              </a:rPr>
              <a:t>累计访问</a:t>
            </a:r>
          </a:p>
        </p:txBody>
      </p:sp>
      <p:sp>
        <p:nvSpPr>
          <p:cNvPr id="8" name="">
            <a:extLst xmlns:a="http://schemas.openxmlformats.org/drawingml/2006/main">
              <a:ext uri="{FF2B5EF4-FFF2-40B4-BE49-F238E27FC236}">
                <a16:creationId xmlns:a16="http://schemas.microsoft.com/office/drawing/2014/main" id="{8221237A-25D1-4AF6-A2AA-9A1079432B78}"/>
              </a:ext>
            </a:extLst>
          </p:cNvPr>
          <p:cNvSpPr>
            <a:spLocks xmlns:a="http://schemas.openxmlformats.org/drawingml/2006/main" noGrp="1"/>
          </p:cNvSpPr>
          <p:nvPr/>
        </p:nvSpPr>
        <p:spPr>
          <a:xfrm xmlns:a="http://schemas.openxmlformats.org/drawingml/2006/main">
            <a:off x="10287000" y="20955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趋势</a:t>
            </a:r>
          </a:p>
        </p:txBody>
      </p:sp>
      <p:sp>
        <p:nvSpPr>
          <p:cNvPr id="9" name="">
            <a:extLst xmlns:a="http://schemas.openxmlformats.org/drawingml/2006/main">
              <a:ext uri="{FF2B5EF4-FFF2-40B4-BE49-F238E27FC236}">
                <a16:creationId xmlns:a16="http://schemas.microsoft.com/office/drawing/2014/main" id="{E42B5E32-DC40-4C26-A08C-22DDA7126B40}"/>
              </a:ext>
            </a:extLst>
          </p:cNvPr>
          <p:cNvSpPr>
            <a:spLocks xmlns:a="http://schemas.openxmlformats.org/drawingml/2006/main" noGrp="1"/>
          </p:cNvSpPr>
          <p:nvPr/>
        </p:nvSpPr>
        <p:spPr>
          <a:xfrm xmlns:a="http://schemas.openxmlformats.org/drawingml/2006/main">
            <a:off x="8572500" y="27146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1C2E"/>
                </a:solidFill>
                <a:latin typeface="Microsoft YaHei"/>
                <a:ea typeface="Microsoft YaHei"/>
                <a:cs typeface="Microsoft YaHei"/>
              </a:defRPr>
            </a:pPr>
            <a:r>
              <a:rPr sz="1350" b="1">
                <a:solidFill>
                  <a:srgbClr val="141C2E"/>
                </a:solidFill>
                <a:latin typeface="Microsoft YaHei"/>
                <a:ea typeface="Microsoft YaHei"/>
                <a:cs typeface="Microsoft YaHei"/>
              </a:rPr>
              <a:t>当前在线</a:t>
            </a:r>
          </a:p>
        </p:txBody>
      </p:sp>
      <p:sp>
        <p:nvSpPr>
          <p:cNvPr id="10" name="">
            <a:extLst xmlns:a="http://schemas.openxmlformats.org/drawingml/2006/main">
              <a:ext uri="{FF2B5EF4-FFF2-40B4-BE49-F238E27FC236}">
                <a16:creationId xmlns:a16="http://schemas.microsoft.com/office/drawing/2014/main" id="{1602073A-BD61-447E-AC95-1C6459C9E44F}"/>
              </a:ext>
            </a:extLst>
          </p:cNvPr>
          <p:cNvSpPr>
            <a:spLocks xmlns:a="http://schemas.openxmlformats.org/drawingml/2006/main" noGrp="1"/>
          </p:cNvSpPr>
          <p:nvPr/>
        </p:nvSpPr>
        <p:spPr>
          <a:xfrm xmlns:a="http://schemas.openxmlformats.org/drawingml/2006/main">
            <a:off x="10287000" y="271462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实时</a:t>
            </a:r>
          </a:p>
        </p:txBody>
      </p:sp>
      <p:sp>
        <p:nvSpPr>
          <p:cNvPr id="11" name="">
            <a:extLst xmlns:a="http://schemas.openxmlformats.org/drawingml/2006/main">
              <a:ext uri="{FF2B5EF4-FFF2-40B4-BE49-F238E27FC236}">
                <a16:creationId xmlns:a16="http://schemas.microsoft.com/office/drawing/2014/main" id="{39867753-F431-41C2-9963-F230CD35561A}"/>
              </a:ext>
            </a:extLst>
          </p:cNvPr>
          <p:cNvSpPr>
            <a:spLocks xmlns:a="http://schemas.openxmlformats.org/drawingml/2006/main" noGrp="1"/>
          </p:cNvSpPr>
          <p:nvPr/>
        </p:nvSpPr>
        <p:spPr>
          <a:xfrm xmlns:a="http://schemas.openxmlformats.org/drawingml/2006/main">
            <a:off x="8572500" y="33337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1C2E"/>
                </a:solidFill>
                <a:latin typeface="Microsoft YaHei"/>
                <a:ea typeface="Microsoft YaHei"/>
                <a:cs typeface="Microsoft YaHei"/>
              </a:defRPr>
            </a:pPr>
            <a:r>
              <a:rPr sz="1350" b="1">
                <a:solidFill>
                  <a:srgbClr val="141C2E"/>
                </a:solidFill>
                <a:latin typeface="Microsoft YaHei"/>
                <a:ea typeface="Microsoft YaHei"/>
                <a:cs typeface="Microsoft YaHei"/>
              </a:rPr>
              <a:t>累计检索</a:t>
            </a:r>
          </a:p>
        </p:txBody>
      </p:sp>
      <p:sp>
        <p:nvSpPr>
          <p:cNvPr id="12" name="">
            <a:extLst xmlns:a="http://schemas.openxmlformats.org/drawingml/2006/main">
              <a:ext uri="{FF2B5EF4-FFF2-40B4-BE49-F238E27FC236}">
                <a16:creationId xmlns:a16="http://schemas.microsoft.com/office/drawing/2014/main" id="{2C4D6C0F-AFCF-42C7-AF33-EE8B40B5A073}"/>
              </a:ext>
            </a:extLst>
          </p:cNvPr>
          <p:cNvSpPr>
            <a:spLocks xmlns:a="http://schemas.openxmlformats.org/drawingml/2006/main" noGrp="1"/>
          </p:cNvSpPr>
          <p:nvPr/>
        </p:nvSpPr>
        <p:spPr>
          <a:xfrm xmlns:a="http://schemas.openxmlformats.org/drawingml/2006/main">
            <a:off x="10287000" y="33337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总量</a:t>
            </a:r>
          </a:p>
        </p:txBody>
      </p:sp>
      <p:sp>
        <p:nvSpPr>
          <p:cNvPr id="13" name="">
            <a:extLst xmlns:a="http://schemas.openxmlformats.org/drawingml/2006/main">
              <a:ext uri="{FF2B5EF4-FFF2-40B4-BE49-F238E27FC236}">
                <a16:creationId xmlns:a16="http://schemas.microsoft.com/office/drawing/2014/main" id="{49D4D5C8-E623-4844-B756-C0559D43EDF1}"/>
              </a:ext>
            </a:extLst>
          </p:cNvPr>
          <p:cNvSpPr>
            <a:spLocks xmlns:a="http://schemas.openxmlformats.org/drawingml/2006/main" noGrp="1"/>
          </p:cNvSpPr>
          <p:nvPr/>
        </p:nvSpPr>
        <p:spPr>
          <a:xfrm xmlns:a="http://schemas.openxmlformats.org/drawingml/2006/main">
            <a:off x="8572500" y="3952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41C2E"/>
                </a:solidFill>
                <a:latin typeface="Microsoft YaHei"/>
                <a:ea typeface="Microsoft YaHei"/>
                <a:cs typeface="Microsoft YaHei"/>
              </a:defRPr>
            </a:pPr>
            <a:r>
              <a:rPr sz="1350" b="1">
                <a:solidFill>
                  <a:srgbClr val="141C2E"/>
                </a:solidFill>
                <a:latin typeface="Microsoft YaHei"/>
                <a:ea typeface="Microsoft YaHei"/>
                <a:cs typeface="Microsoft YaHei"/>
              </a:rPr>
              <a:t>今日检索</a:t>
            </a:r>
          </a:p>
        </p:txBody>
      </p:sp>
      <p:sp>
        <p:nvSpPr>
          <p:cNvPr id="14" name="">
            <a:extLst xmlns:a="http://schemas.openxmlformats.org/drawingml/2006/main">
              <a:ext uri="{FF2B5EF4-FFF2-40B4-BE49-F238E27FC236}">
                <a16:creationId xmlns:a16="http://schemas.microsoft.com/office/drawing/2014/main" id="{3CFEF6B5-0194-480E-A063-0C284FB6DCDD}"/>
              </a:ext>
            </a:extLst>
          </p:cNvPr>
          <p:cNvSpPr>
            <a:spLocks xmlns:a="http://schemas.openxmlformats.org/drawingml/2006/main" noGrp="1"/>
          </p:cNvSpPr>
          <p:nvPr/>
        </p:nvSpPr>
        <p:spPr>
          <a:xfrm xmlns:a="http://schemas.openxmlformats.org/drawingml/2006/main">
            <a:off x="10287000" y="39528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活跃度</a:t>
            </a:r>
          </a:p>
        </p:txBody>
      </p:sp>
      <p:sp>
        <p:nvSpPr>
          <p:cNvPr id="15" name="">
            <a:extLst xmlns:a="http://schemas.openxmlformats.org/drawingml/2006/main">
              <a:ext uri="{FF2B5EF4-FFF2-40B4-BE49-F238E27FC236}">
                <a16:creationId xmlns:a16="http://schemas.microsoft.com/office/drawing/2014/main" id="{31D46C36-3F89-4F73-AFBB-43D61CFA3997}"/>
              </a:ext>
            </a:extLst>
          </p:cNvPr>
          <p:cNvSpPr>
            <a:spLocks xmlns:a="http://schemas.openxmlformats.org/drawingml/2006/main" noGrp="1"/>
          </p:cNvSpPr>
          <p:nvPr/>
        </p:nvSpPr>
        <p:spPr>
          <a:xfrm xmlns:a="http://schemas.openxmlformats.org/drawingml/2006/main">
            <a:off x="8572500" y="48101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2F62E8"/>
                </a:solidFill>
                <a:latin typeface="Microsoft YaHei"/>
                <a:ea typeface="Microsoft YaHei"/>
                <a:cs typeface="Microsoft YaHei"/>
              </a:defRPr>
            </a:pPr>
            <a:r>
              <a:rPr sz="1275" b="1">
                <a:solidFill>
                  <a:srgbClr val="2F62E8"/>
                </a:solidFill>
                <a:latin typeface="Microsoft YaHei"/>
                <a:ea typeface="Microsoft YaHei"/>
                <a:cs typeface="Microsoft YaHei"/>
              </a:rPr>
              <a:t>热门矩阵面积 ∝ 检索次数</a:t>
            </a:r>
          </a:p>
        </p:txBody>
      </p:sp>
    </p:spTree>
    <p:extLst>
      <p:ext uri="{BB962C8B-B14F-4D97-AF65-F5344CB8AC3E}">
        <p14:creationId xmlns:p14="http://schemas.microsoft.com/office/powerpoint/2010/main" val="415959723"/>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E11FF1-9A11-42CF-887E-D4B214FE39C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639283-1E08-4EED-9DAD-602572B0CF10}"/>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CSV EXPORT</a:t>
            </a:r>
          </a:p>
        </p:txBody>
      </p:sp>
      <p:sp>
        <p:nvSpPr>
          <p:cNvPr id="3" name="">
            <a:extLst xmlns:a="http://schemas.openxmlformats.org/drawingml/2006/main">
              <a:ext uri="{FF2B5EF4-FFF2-40B4-BE49-F238E27FC236}">
                <a16:creationId xmlns:a16="http://schemas.microsoft.com/office/drawing/2014/main" id="{998E9452-0955-4E1F-B5EB-BEB8527A9882}"/>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导出不再是固定表格，而是当前筛选状态的结果快照</a:t>
            </a:r>
          </a:p>
        </p:txBody>
      </p:sp>
      <p:sp>
        <p:nvSpPr>
          <p:cNvPr id="4" name="">
            <a:extLst xmlns:a="http://schemas.openxmlformats.org/drawingml/2006/main">
              <a:ext uri="{FF2B5EF4-FFF2-40B4-BE49-F238E27FC236}">
                <a16:creationId xmlns:a16="http://schemas.microsoft.com/office/drawing/2014/main" id="{6B0243AA-AF2E-4057-A877-EA49EB2C857C}"/>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074b95725fe4655"/>
          <a:srcRect xmlns:a="http://schemas.openxmlformats.org/drawingml/2006/main" l="0" t="14" r="0" b="14"/>
          <a:stretch xmlns:a="http://schemas.openxmlformats.org/drawingml/2006/main">
            <a:fillRect l="0" t="0" r="0" b="0"/>
          </a:stretch>
        </p:blipFill>
        <p:spPr>
          <a:xfrm xmlns:a="http://schemas.openxmlformats.org/drawingml/2006/main">
            <a:off x="571500" y="1381125"/>
            <a:ext cx="7334250" cy="4124325"/>
          </a:xfrm>
          <a:prstGeom xmlns:a="http://schemas.openxmlformats.org/drawingml/2006/main" prst="roundRect">
            <a:avLst>
              <a:gd name="adj" fmla="val 2771"/>
            </a:avLst>
          </a:prstGeom>
        </p:spPr>
      </p:pic>
      <p:sp>
        <p:nvSpPr>
          <p:cNvPr id="6" name="">
            <a:extLst xmlns:a="http://schemas.openxmlformats.org/drawingml/2006/main">
              <a:ext uri="{FF2B5EF4-FFF2-40B4-BE49-F238E27FC236}">
                <a16:creationId xmlns:a16="http://schemas.microsoft.com/office/drawing/2014/main" id="{F769969E-958E-4AEE-8415-4D3BA4DB64F9}"/>
              </a:ext>
            </a:extLst>
          </p:cNvPr>
          <p:cNvSpPr>
            <a:spLocks xmlns:a="http://schemas.openxmlformats.org/drawingml/2006/main" noGrp="1"/>
          </p:cNvSpPr>
          <p:nvPr/>
        </p:nvSpPr>
        <p:spPr>
          <a:xfrm xmlns:a="http://schemas.openxmlformats.org/drawingml/2006/main">
            <a:off x="8334375" y="1476375"/>
            <a:ext cx="3000375" cy="1524000"/>
          </a:xfrm>
          <a:prstGeom xmlns:a="http://schemas.openxmlformats.org/drawingml/2006/main" prst="roundRect">
            <a:avLst>
              <a:gd name="adj" fmla="val 8750"/>
            </a:avLst>
          </a:prstGeom>
          <a:solidFill xmlns:a="http://schemas.openxmlformats.org/drawingml/2006/main">
            <a:srgbClr val="EAF1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ADD49A9-82E3-48E9-A8E8-7654055E6DE1}"/>
              </a:ext>
            </a:extLst>
          </p:cNvPr>
          <p:cNvSpPr>
            <a:spLocks xmlns:a="http://schemas.openxmlformats.org/drawingml/2006/main" noGrp="1"/>
          </p:cNvSpPr>
          <p:nvPr/>
        </p:nvSpPr>
        <p:spPr>
          <a:xfrm xmlns:a="http://schemas.openxmlformats.org/drawingml/2006/main">
            <a:off x="8620125" y="16954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2F62E8"/>
                </a:solidFill>
                <a:latin typeface="Microsoft YaHei"/>
                <a:ea typeface="Microsoft YaHei"/>
                <a:cs typeface="Microsoft YaHei"/>
              </a:defRPr>
            </a:pPr>
            <a:r>
              <a:rPr sz="1725" b="1">
                <a:solidFill>
                  <a:srgbClr val="2F62E8"/>
                </a:solidFill>
                <a:latin typeface="Microsoft YaHei"/>
                <a:ea typeface="Microsoft YaHei"/>
                <a:cs typeface="Microsoft YaHei"/>
              </a:rPr>
              <a:t>精简版</a:t>
            </a:r>
          </a:p>
        </p:txBody>
      </p:sp>
      <p:sp>
        <p:nvSpPr>
          <p:cNvPr id="8" name="">
            <a:extLst xmlns:a="http://schemas.openxmlformats.org/drawingml/2006/main">
              <a:ext uri="{FF2B5EF4-FFF2-40B4-BE49-F238E27FC236}">
                <a16:creationId xmlns:a16="http://schemas.microsoft.com/office/drawing/2014/main" id="{EEB9791A-68D9-44B0-A756-4874CDA42739}"/>
              </a:ext>
            </a:extLst>
          </p:cNvPr>
          <p:cNvSpPr>
            <a:spLocks xmlns:a="http://schemas.openxmlformats.org/drawingml/2006/main" noGrp="1"/>
          </p:cNvSpPr>
          <p:nvPr/>
        </p:nvSpPr>
        <p:spPr>
          <a:xfrm xmlns:a="http://schemas.openxmlformats.org/drawingml/2006/main">
            <a:off x="8620125" y="2114550"/>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每个化合物一行</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所选介质横向展示</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适合汇总与 OAV 前处理</a:t>
            </a:r>
          </a:p>
        </p:txBody>
      </p:sp>
      <p:sp>
        <p:nvSpPr>
          <p:cNvPr id="9" name="">
            <a:extLst xmlns:a="http://schemas.openxmlformats.org/drawingml/2006/main">
              <a:ext uri="{FF2B5EF4-FFF2-40B4-BE49-F238E27FC236}">
                <a16:creationId xmlns:a16="http://schemas.microsoft.com/office/drawing/2014/main" id="{4DB8DBEA-47A1-42B8-BE08-3963B0E9BD1B}"/>
              </a:ext>
            </a:extLst>
          </p:cNvPr>
          <p:cNvSpPr>
            <a:spLocks xmlns:a="http://schemas.openxmlformats.org/drawingml/2006/main" noGrp="1"/>
          </p:cNvSpPr>
          <p:nvPr/>
        </p:nvSpPr>
        <p:spPr>
          <a:xfrm xmlns:a="http://schemas.openxmlformats.org/drawingml/2006/main">
            <a:off x="8334375" y="3286125"/>
            <a:ext cx="3000375" cy="1524000"/>
          </a:xfrm>
          <a:prstGeom xmlns:a="http://schemas.openxmlformats.org/drawingml/2006/main" prst="roundRect">
            <a:avLst>
              <a:gd name="adj" fmla="val 8750"/>
            </a:avLst>
          </a:prstGeom>
          <a:solidFill xmlns:a="http://schemas.openxmlformats.org/drawingml/2006/main">
            <a:srgbClr val="FFFFFF"/>
          </a:solidFill>
          <a:ln xmlns:a="http://schemas.openxmlformats.org/drawingml/2006/main" w="9525">
            <a:solidFill>
              <a:srgbClr val="DDE4EF"/>
            </a:solidFill>
            <a:prstDash val="solid"/>
          </a:ln>
        </p:spPr>
      </p:sp>
      <p:sp>
        <p:nvSpPr>
          <p:cNvPr id="10" name="">
            <a:extLst xmlns:a="http://schemas.openxmlformats.org/drawingml/2006/main">
              <a:ext uri="{FF2B5EF4-FFF2-40B4-BE49-F238E27FC236}">
                <a16:creationId xmlns:a16="http://schemas.microsoft.com/office/drawing/2014/main" id="{ADAF38B5-E5AF-43F5-ABDE-F52D83657CD0}"/>
              </a:ext>
            </a:extLst>
          </p:cNvPr>
          <p:cNvSpPr>
            <a:spLocks xmlns:a="http://schemas.openxmlformats.org/drawingml/2006/main" noGrp="1"/>
          </p:cNvSpPr>
          <p:nvPr/>
        </p:nvSpPr>
        <p:spPr>
          <a:xfrm xmlns:a="http://schemas.openxmlformats.org/drawingml/2006/main">
            <a:off x="8620125" y="35052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41C2E"/>
                </a:solidFill>
                <a:latin typeface="Microsoft YaHei"/>
                <a:ea typeface="Microsoft YaHei"/>
                <a:cs typeface="Microsoft YaHei"/>
              </a:defRPr>
            </a:pPr>
            <a:r>
              <a:rPr sz="1725" b="1">
                <a:solidFill>
                  <a:srgbClr val="141C2E"/>
                </a:solidFill>
                <a:latin typeface="Microsoft YaHei"/>
                <a:ea typeface="Microsoft YaHei"/>
                <a:cs typeface="Microsoft YaHei"/>
              </a:rPr>
              <a:t>详细版</a:t>
            </a:r>
          </a:p>
        </p:txBody>
      </p:sp>
      <p:sp>
        <p:nvSpPr>
          <p:cNvPr id="11" name="">
            <a:extLst xmlns:a="http://schemas.openxmlformats.org/drawingml/2006/main">
              <a:ext uri="{FF2B5EF4-FFF2-40B4-BE49-F238E27FC236}">
                <a16:creationId xmlns:a16="http://schemas.microsoft.com/office/drawing/2014/main" id="{0E8D6E2F-BF5C-4D97-8525-115861271735}"/>
              </a:ext>
            </a:extLst>
          </p:cNvPr>
          <p:cNvSpPr>
            <a:spLocks xmlns:a="http://schemas.openxmlformats.org/drawingml/2006/main" noGrp="1"/>
          </p:cNvSpPr>
          <p:nvPr/>
        </p:nvSpPr>
        <p:spPr>
          <a:xfrm xmlns:a="http://schemas.openxmlformats.org/drawingml/2006/main">
            <a:off x="8620125" y="3924300"/>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每条阈值一行</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保留全部来源与单位</a:t>
            </a:r>
          </a:p>
          <a:p xmlns:a="http://schemas.openxmlformats.org/drawingml/2006/main">
            <a:pPr algn="l">
              <a:defRPr sz="1200" b="0">
                <a:solidFill>
                  <a:srgbClr val="66758D"/>
                </a:solidFill>
                <a:latin typeface="Microsoft YaHei"/>
                <a:ea typeface="Microsoft YaHei"/>
                <a:cs typeface="Microsoft YaHei"/>
              </a:defRPr>
            </a:pPr>
            <a:r>
              <a:rPr sz="1200" b="0">
                <a:solidFill>
                  <a:srgbClr val="66758D"/>
                </a:solidFill>
                <a:latin typeface="Microsoft YaHei"/>
                <a:ea typeface="Microsoft YaHei"/>
                <a:cs typeface="Microsoft YaHei"/>
              </a:rPr>
              <a:t>适合核验和归档</a:t>
            </a:r>
          </a:p>
        </p:txBody>
      </p:sp>
    </p:spTree>
    <p:extLst>
      <p:ext uri="{BB962C8B-B14F-4D97-AF65-F5344CB8AC3E}">
        <p14:creationId xmlns:p14="http://schemas.microsoft.com/office/powerpoint/2010/main" val="1217787198"/>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1FCAE3C-3555-4BA1-A73E-4F17A8DE682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F62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733557-BAA6-4981-AFE8-D29CC16B6E70}"/>
              </a:ext>
            </a:extLst>
          </p:cNvPr>
          <p:cNvSpPr>
            <a:spLocks xmlns:a="http://schemas.openxmlformats.org/drawingml/2006/main" noGrp="1"/>
          </p:cNvSpPr>
          <p:nvPr/>
        </p:nvSpPr>
        <p:spPr>
          <a:xfrm xmlns:a="http://schemas.openxmlformats.org/drawingml/2006/main">
            <a:off x="609600" y="33337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F62E8"/>
                </a:solidFill>
                <a:latin typeface="Aptos Display"/>
                <a:ea typeface="Aptos Display"/>
                <a:cs typeface="Aptos Display"/>
              </a:defRPr>
            </a:pPr>
            <a:r>
              <a:rPr sz="900" b="1">
                <a:solidFill>
                  <a:srgbClr val="2F62E8"/>
                </a:solidFill>
                <a:latin typeface="Aptos Display"/>
                <a:ea typeface="Aptos Display"/>
                <a:cs typeface="Aptos Display"/>
              </a:rPr>
              <a:t>DEPLOYMENT</a:t>
            </a:r>
          </a:p>
        </p:txBody>
      </p:sp>
      <p:sp>
        <p:nvSpPr>
          <p:cNvPr id="3" name="">
            <a:extLst xmlns:a="http://schemas.openxmlformats.org/drawingml/2006/main">
              <a:ext uri="{FF2B5EF4-FFF2-40B4-BE49-F238E27FC236}">
                <a16:creationId xmlns:a16="http://schemas.microsoft.com/office/drawing/2014/main" id="{48ADDCDE-94EB-4EBD-B2C3-C9F88EBB6BDF}"/>
              </a:ext>
            </a:extLst>
          </p:cNvPr>
          <p:cNvSpPr>
            <a:spLocks xmlns:a="http://schemas.openxmlformats.org/drawingml/2006/main" noGrp="1"/>
          </p:cNvSpPr>
          <p:nvPr/>
        </p:nvSpPr>
        <p:spPr>
          <a:xfrm xmlns:a="http://schemas.openxmlformats.org/drawingml/2006/main">
            <a:off x="609600" y="60960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41C2E"/>
                </a:solidFill>
                <a:latin typeface="Microsoft YaHei"/>
                <a:ea typeface="Microsoft YaHei"/>
                <a:cs typeface="Microsoft YaHei"/>
              </a:defRPr>
            </a:pPr>
            <a:r>
              <a:rPr sz="2625" b="1">
                <a:solidFill>
                  <a:srgbClr val="141C2E"/>
                </a:solidFill>
                <a:latin typeface="Microsoft YaHei"/>
                <a:ea typeface="Microsoft YaHei"/>
                <a:cs typeface="Microsoft YaHei"/>
              </a:rPr>
              <a:t>静态前端与外部数据 API 分开部署，兼顾公开访问与动态查询</a:t>
            </a:r>
          </a:p>
        </p:txBody>
      </p:sp>
      <p:sp>
        <p:nvSpPr>
          <p:cNvPr id="4" name="">
            <a:extLst xmlns:a="http://schemas.openxmlformats.org/drawingml/2006/main">
              <a:ext uri="{FF2B5EF4-FFF2-40B4-BE49-F238E27FC236}">
                <a16:creationId xmlns:a16="http://schemas.microsoft.com/office/drawing/2014/main" id="{AF27A0F3-BF83-475B-94CD-47612673C16C}"/>
              </a:ext>
            </a:extLst>
          </p:cNvPr>
          <p:cNvSpPr>
            <a:spLocks xmlns:a="http://schemas.openxmlformats.org/drawingml/2006/main" noGrp="1"/>
          </p:cNvSpPr>
          <p:nvPr/>
        </p:nvSpPr>
        <p:spPr>
          <a:xfrm xmlns:a="http://schemas.openxmlformats.org/drawingml/2006/main">
            <a:off x="11144250" y="62960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66758D"/>
                </a:solidFill>
                <a:latin typeface="Aptos Display"/>
                <a:ea typeface="Aptos Display"/>
                <a:cs typeface="Aptos Display"/>
              </a:defRPr>
            </a:pPr>
            <a:r>
              <a:rPr sz="900" b="1">
                <a:solidFill>
                  <a:srgbClr val="66758D"/>
                </a:solidFill>
                <a:latin typeface="Aptos Display"/>
                <a:ea typeface="Aptos Display"/>
                <a:cs typeface="Aptos Display"/>
              </a:rPr>
              <a:t>11</a:t>
            </a:r>
          </a:p>
        </p:txBody>
      </p:sp>
      <p:sp>
        <p:nvSpPr>
          <p:cNvPr id="5" name="">
            <a:extLst xmlns:a="http://schemas.openxmlformats.org/drawingml/2006/main">
              <a:ext uri="{FF2B5EF4-FFF2-40B4-BE49-F238E27FC236}">
                <a16:creationId xmlns:a16="http://schemas.microsoft.com/office/drawing/2014/main" id="{279DD420-EC5D-40D4-9F4F-EEF3BC2FE2E5}"/>
              </a:ext>
            </a:extLst>
          </p:cNvPr>
          <p:cNvSpPr>
            <a:spLocks xmlns:a="http://schemas.openxmlformats.org/drawingml/2006/main" noGrp="1"/>
          </p:cNvSpPr>
          <p:nvPr/>
        </p:nvSpPr>
        <p:spPr>
          <a:xfrm xmlns:a="http://schemas.openxmlformats.org/drawingml/2006/main">
            <a:off x="666750" y="2476500"/>
            <a:ext cx="2000250" cy="1123950"/>
          </a:xfrm>
          <a:prstGeom xmlns:a="http://schemas.openxmlformats.org/drawingml/2006/main" prst="roundRect">
            <a:avLst>
              <a:gd name="adj" fmla="val 11864"/>
            </a:avLst>
          </a:prstGeom>
          <a:solidFill xmlns:a="http://schemas.openxmlformats.org/drawingml/2006/main">
            <a:srgbClr val="FFFFFF"/>
          </a:solidFill>
          <a:ln xmlns:a="http://schemas.openxmlformats.org/drawingml/2006/main" w="9525">
            <a:solidFill>
              <a:srgbClr val="DDE4EF"/>
            </a:solidFill>
            <a:prstDash val="solid"/>
          </a:ln>
        </p:spPr>
      </p:sp>
      <p:sp>
        <p:nvSpPr>
          <p:cNvPr id="6" name="">
            <a:extLst xmlns:a="http://schemas.openxmlformats.org/drawingml/2006/main">
              <a:ext uri="{FF2B5EF4-FFF2-40B4-BE49-F238E27FC236}">
                <a16:creationId xmlns:a16="http://schemas.microsoft.com/office/drawing/2014/main" id="{834E8051-BCDA-4B60-959E-EDED9E29644B}"/>
              </a:ext>
            </a:extLst>
          </p:cNvPr>
          <p:cNvSpPr>
            <a:spLocks xmlns:a="http://schemas.openxmlformats.org/drawingml/2006/main" noGrp="1"/>
          </p:cNvSpPr>
          <p:nvPr/>
        </p:nvSpPr>
        <p:spPr>
          <a:xfrm xmlns:a="http://schemas.openxmlformats.org/drawingml/2006/main">
            <a:off x="857250" y="26670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1C2E"/>
                </a:solidFill>
                <a:latin typeface="Aptos Display"/>
                <a:ea typeface="Aptos Display"/>
                <a:cs typeface="Aptos Display"/>
              </a:defRPr>
            </a:pPr>
            <a:r>
              <a:rPr sz="1575" b="1">
                <a:solidFill>
                  <a:srgbClr val="141C2E"/>
                </a:solidFill>
                <a:latin typeface="Aptos Display"/>
                <a:ea typeface="Aptos Display"/>
                <a:cs typeface="Aptos Display"/>
              </a:rPr>
              <a:t>GitHub</a:t>
            </a:r>
          </a:p>
        </p:txBody>
      </p:sp>
      <p:sp>
        <p:nvSpPr>
          <p:cNvPr id="7" name="">
            <a:extLst xmlns:a="http://schemas.openxmlformats.org/drawingml/2006/main">
              <a:ext uri="{FF2B5EF4-FFF2-40B4-BE49-F238E27FC236}">
                <a16:creationId xmlns:a16="http://schemas.microsoft.com/office/drawing/2014/main" id="{5C53AF3A-52E6-4E59-A15E-3FDFF1C69DD9}"/>
              </a:ext>
            </a:extLst>
          </p:cNvPr>
          <p:cNvSpPr>
            <a:spLocks xmlns:a="http://schemas.openxmlformats.org/drawingml/2006/main" noGrp="1"/>
          </p:cNvSpPr>
          <p:nvPr/>
        </p:nvSpPr>
        <p:spPr>
          <a:xfrm xmlns:a="http://schemas.openxmlformats.org/drawingml/2006/main">
            <a:off x="857250" y="30575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源码与版本</a:t>
            </a:r>
          </a:p>
        </p:txBody>
      </p:sp>
      <p:sp>
        <p:nvSpPr>
          <p:cNvPr id="8" name="">
            <a:extLst xmlns:a="http://schemas.openxmlformats.org/drawingml/2006/main">
              <a:ext uri="{FF2B5EF4-FFF2-40B4-BE49-F238E27FC236}">
                <a16:creationId xmlns:a16="http://schemas.microsoft.com/office/drawing/2014/main" id="{8B2129C5-3FFA-41FF-BB1D-F0691A370886}"/>
              </a:ext>
            </a:extLst>
          </p:cNvPr>
          <p:cNvSpPr>
            <a:spLocks xmlns:a="http://schemas.openxmlformats.org/drawingml/2006/main" noGrp="1"/>
          </p:cNvSpPr>
          <p:nvPr/>
        </p:nvSpPr>
        <p:spPr>
          <a:xfrm xmlns:a="http://schemas.openxmlformats.org/drawingml/2006/main">
            <a:off x="2724150" y="28003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F62E8"/>
                </a:solidFill>
                <a:latin typeface="Microsoft YaHei"/>
                <a:ea typeface="Microsoft YaHei"/>
                <a:cs typeface="Microsoft YaHei"/>
              </a:defRPr>
            </a:pPr>
            <a:r>
              <a:rPr sz="1950" b="1">
                <a:solidFill>
                  <a:srgbClr val="2F62E8"/>
                </a:solidFill>
                <a:latin typeface="Microsoft YaHei"/>
                <a:ea typeface="Microsoft YaHei"/>
                <a:cs typeface="Microsoft YaHei"/>
              </a:rPr>
              <a:t>→</a:t>
            </a:r>
          </a:p>
        </p:txBody>
      </p:sp>
      <p:sp>
        <p:nvSpPr>
          <p:cNvPr id="9" name="">
            <a:extLst xmlns:a="http://schemas.openxmlformats.org/drawingml/2006/main">
              <a:ext uri="{FF2B5EF4-FFF2-40B4-BE49-F238E27FC236}">
                <a16:creationId xmlns:a16="http://schemas.microsoft.com/office/drawing/2014/main" id="{04D7B0DB-A1CC-460A-8599-ED273E3C9E55}"/>
              </a:ext>
            </a:extLst>
          </p:cNvPr>
          <p:cNvSpPr>
            <a:spLocks xmlns:a="http://schemas.openxmlformats.org/drawingml/2006/main" noGrp="1"/>
          </p:cNvSpPr>
          <p:nvPr/>
        </p:nvSpPr>
        <p:spPr>
          <a:xfrm xmlns:a="http://schemas.openxmlformats.org/drawingml/2006/main">
            <a:off x="3143250" y="2476500"/>
            <a:ext cx="2381250" cy="1123950"/>
          </a:xfrm>
          <a:prstGeom xmlns:a="http://schemas.openxmlformats.org/drawingml/2006/main" prst="roundRect">
            <a:avLst>
              <a:gd name="adj" fmla="val 11864"/>
            </a:avLst>
          </a:prstGeom>
          <a:solidFill xmlns:a="http://schemas.openxmlformats.org/drawingml/2006/main">
            <a:srgbClr val="FFFFFF"/>
          </a:solidFill>
          <a:ln xmlns:a="http://schemas.openxmlformats.org/drawingml/2006/main" w="9525">
            <a:solidFill>
              <a:srgbClr val="DDE4EF"/>
            </a:solidFill>
            <a:prstDash val="solid"/>
          </a:ln>
        </p:spPr>
      </p:sp>
      <p:sp>
        <p:nvSpPr>
          <p:cNvPr id="10" name="">
            <a:extLst xmlns:a="http://schemas.openxmlformats.org/drawingml/2006/main">
              <a:ext uri="{FF2B5EF4-FFF2-40B4-BE49-F238E27FC236}">
                <a16:creationId xmlns:a16="http://schemas.microsoft.com/office/drawing/2014/main" id="{47FDEC3C-F250-418E-AEAC-C2D5E4149759}"/>
              </a:ext>
            </a:extLst>
          </p:cNvPr>
          <p:cNvSpPr>
            <a:spLocks xmlns:a="http://schemas.openxmlformats.org/drawingml/2006/main" noGrp="1"/>
          </p:cNvSpPr>
          <p:nvPr/>
        </p:nvSpPr>
        <p:spPr>
          <a:xfrm xmlns:a="http://schemas.openxmlformats.org/drawingml/2006/main">
            <a:off x="3333750" y="26670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1C2E"/>
                </a:solidFill>
                <a:latin typeface="Aptos Display"/>
                <a:ea typeface="Aptos Display"/>
                <a:cs typeface="Aptos Display"/>
              </a:defRPr>
            </a:pPr>
            <a:r>
              <a:rPr sz="1575" b="1">
                <a:solidFill>
                  <a:srgbClr val="141C2E"/>
                </a:solidFill>
                <a:latin typeface="Aptos Display"/>
                <a:ea typeface="Aptos Display"/>
                <a:cs typeface="Aptos Display"/>
              </a:rPr>
              <a:t>GitHub Pages</a:t>
            </a:r>
          </a:p>
        </p:txBody>
      </p:sp>
      <p:sp>
        <p:nvSpPr>
          <p:cNvPr id="11" name="">
            <a:extLst xmlns:a="http://schemas.openxmlformats.org/drawingml/2006/main">
              <a:ext uri="{FF2B5EF4-FFF2-40B4-BE49-F238E27FC236}">
                <a16:creationId xmlns:a16="http://schemas.microsoft.com/office/drawing/2014/main" id="{9953B5D9-56D2-42FA-823C-81E9FB4C0004}"/>
              </a:ext>
            </a:extLst>
          </p:cNvPr>
          <p:cNvSpPr>
            <a:spLocks xmlns:a="http://schemas.openxmlformats.org/drawingml/2006/main" noGrp="1"/>
          </p:cNvSpPr>
          <p:nvPr/>
        </p:nvSpPr>
        <p:spPr>
          <a:xfrm xmlns:a="http://schemas.openxmlformats.org/drawingml/2006/main">
            <a:off x="3333750" y="30575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React 前端</a:t>
            </a:r>
          </a:p>
        </p:txBody>
      </p:sp>
      <p:sp>
        <p:nvSpPr>
          <p:cNvPr id="12" name="">
            <a:extLst xmlns:a="http://schemas.openxmlformats.org/drawingml/2006/main">
              <a:ext uri="{FF2B5EF4-FFF2-40B4-BE49-F238E27FC236}">
                <a16:creationId xmlns:a16="http://schemas.microsoft.com/office/drawing/2014/main" id="{D45425B4-86E6-4448-AAC6-899BACFBFA0C}"/>
              </a:ext>
            </a:extLst>
          </p:cNvPr>
          <p:cNvSpPr>
            <a:spLocks xmlns:a="http://schemas.openxmlformats.org/drawingml/2006/main" noGrp="1"/>
          </p:cNvSpPr>
          <p:nvPr/>
        </p:nvSpPr>
        <p:spPr>
          <a:xfrm xmlns:a="http://schemas.openxmlformats.org/drawingml/2006/main">
            <a:off x="5572125" y="28003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F62E8"/>
                </a:solidFill>
                <a:latin typeface="Microsoft YaHei"/>
                <a:ea typeface="Microsoft YaHei"/>
                <a:cs typeface="Microsoft YaHei"/>
              </a:defRPr>
            </a:pPr>
            <a:r>
              <a:rPr sz="1950" b="1">
                <a:solidFill>
                  <a:srgbClr val="2F62E8"/>
                </a:solidFill>
                <a:latin typeface="Microsoft YaHei"/>
                <a:ea typeface="Microsoft YaHei"/>
                <a:cs typeface="Microsoft YaHei"/>
              </a:rPr>
              <a:t>→</a:t>
            </a:r>
          </a:p>
        </p:txBody>
      </p:sp>
      <p:sp>
        <p:nvSpPr>
          <p:cNvPr id="13" name="">
            <a:extLst xmlns:a="http://schemas.openxmlformats.org/drawingml/2006/main">
              <a:ext uri="{FF2B5EF4-FFF2-40B4-BE49-F238E27FC236}">
                <a16:creationId xmlns:a16="http://schemas.microsoft.com/office/drawing/2014/main" id="{70DDE7CA-2023-4BE8-98A9-879F48F03DE6}"/>
              </a:ext>
            </a:extLst>
          </p:cNvPr>
          <p:cNvSpPr>
            <a:spLocks xmlns:a="http://schemas.openxmlformats.org/drawingml/2006/main" noGrp="1"/>
          </p:cNvSpPr>
          <p:nvPr/>
        </p:nvSpPr>
        <p:spPr>
          <a:xfrm xmlns:a="http://schemas.openxmlformats.org/drawingml/2006/main">
            <a:off x="6381750" y="2476500"/>
            <a:ext cx="2000250" cy="1123950"/>
          </a:xfrm>
          <a:prstGeom xmlns:a="http://schemas.openxmlformats.org/drawingml/2006/main" prst="roundRect">
            <a:avLst>
              <a:gd name="adj" fmla="val 11864"/>
            </a:avLst>
          </a:prstGeom>
          <a:solidFill xmlns:a="http://schemas.openxmlformats.org/drawingml/2006/main">
            <a:srgbClr val="0B1220"/>
          </a:solidFill>
          <a:ln xmlns:a="http://schemas.openxmlformats.org/drawingml/2006/main" w="9525">
            <a:solidFill>
              <a:srgbClr val="0B1220"/>
            </a:solidFill>
            <a:prstDash val="solid"/>
          </a:ln>
        </p:spPr>
      </p:sp>
      <p:sp>
        <p:nvSpPr>
          <p:cNvPr id="14" name="">
            <a:extLst xmlns:a="http://schemas.openxmlformats.org/drawingml/2006/main">
              <a:ext uri="{FF2B5EF4-FFF2-40B4-BE49-F238E27FC236}">
                <a16:creationId xmlns:a16="http://schemas.microsoft.com/office/drawing/2014/main" id="{D4780EFF-9B46-447A-A378-7B8118E9E497}"/>
              </a:ext>
            </a:extLst>
          </p:cNvPr>
          <p:cNvSpPr>
            <a:spLocks xmlns:a="http://schemas.openxmlformats.org/drawingml/2006/main" noGrp="1"/>
          </p:cNvSpPr>
          <p:nvPr/>
        </p:nvSpPr>
        <p:spPr>
          <a:xfrm xmlns:a="http://schemas.openxmlformats.org/drawingml/2006/main">
            <a:off x="6572250" y="26670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Render</a:t>
            </a:r>
          </a:p>
        </p:txBody>
      </p:sp>
      <p:sp>
        <p:nvSpPr>
          <p:cNvPr id="15" name="">
            <a:extLst xmlns:a="http://schemas.openxmlformats.org/drawingml/2006/main">
              <a:ext uri="{FF2B5EF4-FFF2-40B4-BE49-F238E27FC236}">
                <a16:creationId xmlns:a16="http://schemas.microsoft.com/office/drawing/2014/main" id="{827F6A9D-C9C6-4E58-B004-A4153E1B68BB}"/>
              </a:ext>
            </a:extLst>
          </p:cNvPr>
          <p:cNvSpPr>
            <a:spLocks xmlns:a="http://schemas.openxmlformats.org/drawingml/2006/main" noGrp="1"/>
          </p:cNvSpPr>
          <p:nvPr/>
        </p:nvSpPr>
        <p:spPr>
          <a:xfrm xmlns:a="http://schemas.openxmlformats.org/drawingml/2006/main">
            <a:off x="6572250" y="30575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AFC0D8"/>
                </a:solidFill>
                <a:latin typeface="Microsoft YaHei"/>
                <a:ea typeface="Microsoft YaHei"/>
                <a:cs typeface="Microsoft YaHei"/>
              </a:defRPr>
            </a:pPr>
            <a:r>
              <a:rPr sz="1125" b="0">
                <a:solidFill>
                  <a:srgbClr val="AFC0D8"/>
                </a:solidFill>
                <a:latin typeface="Microsoft YaHei"/>
                <a:ea typeface="Microsoft YaHei"/>
                <a:cs typeface="Microsoft YaHei"/>
              </a:rPr>
              <a:t>Python API</a:t>
            </a:r>
          </a:p>
        </p:txBody>
      </p:sp>
      <p:sp>
        <p:nvSpPr>
          <p:cNvPr id="16" name="">
            <a:extLst xmlns:a="http://schemas.openxmlformats.org/drawingml/2006/main">
              <a:ext uri="{FF2B5EF4-FFF2-40B4-BE49-F238E27FC236}">
                <a16:creationId xmlns:a16="http://schemas.microsoft.com/office/drawing/2014/main" id="{D08016AE-FF4F-4E6C-BDDA-7B37FE89C671}"/>
              </a:ext>
            </a:extLst>
          </p:cNvPr>
          <p:cNvSpPr>
            <a:spLocks xmlns:a="http://schemas.openxmlformats.org/drawingml/2006/main" noGrp="1"/>
          </p:cNvSpPr>
          <p:nvPr/>
        </p:nvSpPr>
        <p:spPr>
          <a:xfrm xmlns:a="http://schemas.openxmlformats.org/drawingml/2006/main">
            <a:off x="8439150" y="28003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2F62E8"/>
                </a:solidFill>
                <a:latin typeface="Microsoft YaHei"/>
                <a:ea typeface="Microsoft YaHei"/>
                <a:cs typeface="Microsoft YaHei"/>
              </a:defRPr>
            </a:pPr>
            <a:r>
              <a:rPr sz="1950" b="1">
                <a:solidFill>
                  <a:srgbClr val="2F62E8"/>
                </a:solidFill>
                <a:latin typeface="Microsoft YaHei"/>
                <a:ea typeface="Microsoft YaHei"/>
                <a:cs typeface="Microsoft YaHei"/>
              </a:rPr>
              <a:t>→</a:t>
            </a:r>
          </a:p>
        </p:txBody>
      </p:sp>
      <p:sp>
        <p:nvSpPr>
          <p:cNvPr id="17" name="">
            <a:extLst xmlns:a="http://schemas.openxmlformats.org/drawingml/2006/main">
              <a:ext uri="{FF2B5EF4-FFF2-40B4-BE49-F238E27FC236}">
                <a16:creationId xmlns:a16="http://schemas.microsoft.com/office/drawing/2014/main" id="{2A3A3D42-94CD-4DA1-9D8C-ED2605301F78}"/>
              </a:ext>
            </a:extLst>
          </p:cNvPr>
          <p:cNvSpPr>
            <a:spLocks xmlns:a="http://schemas.openxmlformats.org/drawingml/2006/main" noGrp="1"/>
          </p:cNvSpPr>
          <p:nvPr/>
        </p:nvSpPr>
        <p:spPr>
          <a:xfrm xmlns:a="http://schemas.openxmlformats.org/drawingml/2006/main">
            <a:off x="9144000" y="2476500"/>
            <a:ext cx="2000250" cy="1123950"/>
          </a:xfrm>
          <a:prstGeom xmlns:a="http://schemas.openxmlformats.org/drawingml/2006/main" prst="roundRect">
            <a:avLst>
              <a:gd name="adj" fmla="val 11864"/>
            </a:avLst>
          </a:prstGeom>
          <a:solidFill xmlns:a="http://schemas.openxmlformats.org/drawingml/2006/main">
            <a:srgbClr val="FFFFFF"/>
          </a:solidFill>
          <a:ln xmlns:a="http://schemas.openxmlformats.org/drawingml/2006/main" w="9525">
            <a:solidFill>
              <a:srgbClr val="DDE4EF"/>
            </a:solidFill>
            <a:prstDash val="solid"/>
          </a:ln>
        </p:spPr>
      </p:sp>
      <p:sp>
        <p:nvSpPr>
          <p:cNvPr id="18" name="">
            <a:extLst xmlns:a="http://schemas.openxmlformats.org/drawingml/2006/main">
              <a:ext uri="{FF2B5EF4-FFF2-40B4-BE49-F238E27FC236}">
                <a16:creationId xmlns:a16="http://schemas.microsoft.com/office/drawing/2014/main" id="{689B47DA-79FE-4213-8D13-64184C61B2B3}"/>
              </a:ext>
            </a:extLst>
          </p:cNvPr>
          <p:cNvSpPr>
            <a:spLocks xmlns:a="http://schemas.openxmlformats.org/drawingml/2006/main" noGrp="1"/>
          </p:cNvSpPr>
          <p:nvPr/>
        </p:nvSpPr>
        <p:spPr>
          <a:xfrm xmlns:a="http://schemas.openxmlformats.org/drawingml/2006/main">
            <a:off x="9334500" y="26670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41C2E"/>
                </a:solidFill>
                <a:latin typeface="Aptos Display"/>
                <a:ea typeface="Aptos Display"/>
                <a:cs typeface="Aptos Display"/>
              </a:defRPr>
            </a:pPr>
            <a:r>
              <a:rPr sz="1575" b="1">
                <a:solidFill>
                  <a:srgbClr val="141C2E"/>
                </a:solidFill>
                <a:latin typeface="Aptos Display"/>
                <a:ea typeface="Aptos Display"/>
                <a:cs typeface="Aptos Display"/>
              </a:rPr>
              <a:t>External data</a:t>
            </a:r>
          </a:p>
        </p:txBody>
      </p:sp>
      <p:sp>
        <p:nvSpPr>
          <p:cNvPr id="19" name="">
            <a:extLst xmlns:a="http://schemas.openxmlformats.org/drawingml/2006/main">
              <a:ext uri="{FF2B5EF4-FFF2-40B4-BE49-F238E27FC236}">
                <a16:creationId xmlns:a16="http://schemas.microsoft.com/office/drawing/2014/main" id="{EE578DE8-4B89-4D27-BB6C-3390E0C06DB1}"/>
              </a:ext>
            </a:extLst>
          </p:cNvPr>
          <p:cNvSpPr>
            <a:spLocks xmlns:a="http://schemas.openxmlformats.org/drawingml/2006/main" noGrp="1"/>
          </p:cNvSpPr>
          <p:nvPr/>
        </p:nvSpPr>
        <p:spPr>
          <a:xfrm xmlns:a="http://schemas.openxmlformats.org/drawingml/2006/main">
            <a:off x="9334500" y="30575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66758D"/>
                </a:solidFill>
                <a:latin typeface="Microsoft YaHei"/>
                <a:ea typeface="Microsoft YaHei"/>
                <a:cs typeface="Microsoft YaHei"/>
              </a:defRPr>
            </a:pPr>
            <a:r>
              <a:rPr sz="1125" b="0">
                <a:solidFill>
                  <a:srgbClr val="66758D"/>
                </a:solidFill>
                <a:latin typeface="Microsoft YaHei"/>
                <a:ea typeface="Microsoft YaHei"/>
                <a:cs typeface="Microsoft YaHei"/>
              </a:rPr>
              <a:t>FEMA · PubChem · FlavorDB</a:t>
            </a:r>
          </a:p>
        </p:txBody>
      </p:sp>
      <p:sp>
        <p:nvSpPr>
          <p:cNvPr id="20" name="">
            <a:extLst xmlns:a="http://schemas.openxmlformats.org/drawingml/2006/main">
              <a:ext uri="{FF2B5EF4-FFF2-40B4-BE49-F238E27FC236}">
                <a16:creationId xmlns:a16="http://schemas.microsoft.com/office/drawing/2014/main" id="{0BA5E53A-1442-4997-B049-1DB6B0320001}"/>
              </a:ext>
            </a:extLst>
          </p:cNvPr>
          <p:cNvSpPr>
            <a:spLocks xmlns:a="http://schemas.openxmlformats.org/drawingml/2006/main" noGrp="1"/>
          </p:cNvSpPr>
          <p:nvPr/>
        </p:nvSpPr>
        <p:spPr>
          <a:xfrm xmlns:a="http://schemas.openxmlformats.org/drawingml/2006/main">
            <a:off x="1524000" y="44767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6758D"/>
                </a:solidFill>
                <a:latin typeface="Microsoft YaHei"/>
                <a:ea typeface="Microsoft YaHei"/>
                <a:cs typeface="Microsoft YaHei"/>
              </a:defRPr>
            </a:pPr>
            <a:r>
              <a:rPr sz="1050" b="1">
                <a:solidFill>
                  <a:srgbClr val="66758D"/>
                </a:solidFill>
                <a:latin typeface="Microsoft YaHei"/>
                <a:ea typeface="Microsoft YaHei"/>
                <a:cs typeface="Microsoft YaHei"/>
              </a:rPr>
              <a:t>公共网站</a:t>
            </a:r>
          </a:p>
        </p:txBody>
      </p:sp>
      <p:sp>
        <p:nvSpPr>
          <p:cNvPr id="21" name="">
            <a:extLst xmlns:a="http://schemas.openxmlformats.org/drawingml/2006/main">
              <a:ext uri="{FF2B5EF4-FFF2-40B4-BE49-F238E27FC236}">
                <a16:creationId xmlns:a16="http://schemas.microsoft.com/office/drawing/2014/main" id="{E70B94C1-714C-4C85-A3CA-6BBB13A6D20D}"/>
              </a:ext>
            </a:extLst>
          </p:cNvPr>
          <p:cNvSpPr>
            <a:spLocks xmlns:a="http://schemas.openxmlformats.org/drawingml/2006/main" noGrp="1"/>
          </p:cNvSpPr>
          <p:nvPr/>
        </p:nvSpPr>
        <p:spPr>
          <a:xfrm xmlns:a="http://schemas.openxmlformats.org/drawingml/2006/main">
            <a:off x="3000375" y="44005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F62E8"/>
                </a:solidFill>
                <a:latin typeface="Aptos Display"/>
                <a:ea typeface="Aptos Display"/>
                <a:cs typeface="Aptos Display"/>
              </a:defRPr>
            </a:pPr>
            <a:r>
              <a:rPr sz="1575" b="1">
                <a:solidFill>
                  <a:srgbClr val="2F62E8"/>
                </a:solidFill>
                <a:latin typeface="Aptos Display"/>
                <a:ea typeface="Aptos Display"/>
                <a:cs typeface="Aptos Display"/>
              </a:rPr>
              <a:t>xqplayer.github.io/FlavorThresholdDB</a:t>
            </a:r>
          </a:p>
        </p:txBody>
      </p:sp>
    </p:spTree>
    <p:extLst>
      <p:ext uri="{BB962C8B-B14F-4D97-AF65-F5344CB8AC3E}">
        <p14:creationId xmlns:p14="http://schemas.microsoft.com/office/powerpoint/2010/main" val="43048613"/>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601F25-CFA6-483A-A4A2-D9A64E185FC3}"/>
              </a:ext>
            </a:extLst>
          </p:cNvPr>
          <p:cNvSpPr>
            <a:spLocks xmlns:a="http://schemas.openxmlformats.org/drawingml/2006/main" noGrp="1"/>
          </p:cNvSpPr>
          <p:nvPr/>
        </p:nvSpPr>
        <p:spPr>
          <a:xfrm xmlns:a="http://schemas.openxmlformats.org/drawingml/2006/main">
            <a:off x="685800" y="81915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FFFFFF"/>
                </a:solidFill>
                <a:latin typeface="Microsoft YaHei"/>
                <a:ea typeface="Microsoft YaHei"/>
                <a:cs typeface="Microsoft YaHei"/>
              </a:defRPr>
            </a:pPr>
            <a:r>
              <a:rPr sz="3000" b="1">
                <a:solidFill>
                  <a:srgbClr val="FFFFFF"/>
                </a:solidFill>
                <a:latin typeface="Microsoft YaHei"/>
                <a:ea typeface="Microsoft YaHei"/>
                <a:cs typeface="Microsoft YaHei"/>
              </a:rPr>
              <a:t>FlavorThresholdDB 的价值</a:t>
            </a:r>
          </a:p>
        </p:txBody>
      </p:sp>
      <p:sp>
        <p:nvSpPr>
          <p:cNvPr id="2" name="">
            <a:extLst xmlns:a="http://schemas.openxmlformats.org/drawingml/2006/main">
              <a:ext uri="{FF2B5EF4-FFF2-40B4-BE49-F238E27FC236}">
                <a16:creationId xmlns:a16="http://schemas.microsoft.com/office/drawing/2014/main" id="{3B427EA2-98B4-4B06-BBF7-A8009F7EAEC8}"/>
              </a:ext>
            </a:extLst>
          </p:cNvPr>
          <p:cNvSpPr>
            <a:spLocks xmlns:a="http://schemas.openxmlformats.org/drawingml/2006/main" noGrp="1"/>
          </p:cNvSpPr>
          <p:nvPr/>
        </p:nvSpPr>
        <p:spPr>
          <a:xfrm xmlns:a="http://schemas.openxmlformats.org/drawingml/2006/main">
            <a:off x="685800" y="15049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0">
                <a:solidFill>
                  <a:srgbClr val="BFD0E8"/>
                </a:solidFill>
                <a:latin typeface="Microsoft YaHei"/>
                <a:ea typeface="Microsoft YaHei"/>
                <a:cs typeface="Microsoft YaHei"/>
              </a:defRPr>
            </a:pPr>
            <a:r>
              <a:rPr sz="1950" b="0">
                <a:solidFill>
                  <a:srgbClr val="BFD0E8"/>
                </a:solidFill>
                <a:latin typeface="Microsoft YaHei"/>
                <a:ea typeface="Microsoft YaHei"/>
                <a:cs typeface="Microsoft YaHei"/>
              </a:rPr>
              <a:t>让每个风味化合物结果都能被检索、比较、追溯和复用。</a:t>
            </a:r>
          </a:p>
        </p:txBody>
      </p:sp>
      <p:sp>
        <p:nvSpPr>
          <p:cNvPr id="3" name="">
            <a:extLst xmlns:a="http://schemas.openxmlformats.org/drawingml/2006/main">
              <a:ext uri="{FF2B5EF4-FFF2-40B4-BE49-F238E27FC236}">
                <a16:creationId xmlns:a16="http://schemas.microsoft.com/office/drawing/2014/main" id="{A84D5148-A015-41C7-80AD-1884591B6E39}"/>
              </a:ext>
            </a:extLst>
          </p:cNvPr>
          <p:cNvSpPr>
            <a:spLocks xmlns:a="http://schemas.openxmlformats.org/drawingml/2006/main" noGrp="1"/>
          </p:cNvSpPr>
          <p:nvPr/>
        </p:nvSpPr>
        <p:spPr>
          <a:xfrm xmlns:a="http://schemas.openxmlformats.org/drawingml/2006/main">
            <a:off x="68580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检索</a:t>
            </a:r>
          </a:p>
        </p:txBody>
      </p:sp>
      <p:sp>
        <p:nvSpPr>
          <p:cNvPr id="4" name="">
            <a:extLst xmlns:a="http://schemas.openxmlformats.org/drawingml/2006/main">
              <a:ext uri="{FF2B5EF4-FFF2-40B4-BE49-F238E27FC236}">
                <a16:creationId xmlns:a16="http://schemas.microsoft.com/office/drawing/2014/main" id="{B0CBC1C4-0A98-4194-A5F3-A0ABB08C696E}"/>
              </a:ext>
            </a:extLst>
          </p:cNvPr>
          <p:cNvSpPr>
            <a:spLocks xmlns:a="http://schemas.openxmlformats.org/drawingml/2006/main" noGrp="1"/>
          </p:cNvSpPr>
          <p:nvPr/>
        </p:nvSpPr>
        <p:spPr>
          <a:xfrm xmlns:a="http://schemas.openxmlformats.org/drawingml/2006/main">
            <a:off x="685800" y="3333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FB0C9"/>
                </a:solidFill>
                <a:latin typeface="Microsoft YaHei"/>
                <a:ea typeface="Microsoft YaHei"/>
                <a:cs typeface="Microsoft YaHei"/>
              </a:defRPr>
            </a:pPr>
            <a:r>
              <a:rPr sz="1200" b="0">
                <a:solidFill>
                  <a:srgbClr val="9FB0C9"/>
                </a:solidFill>
                <a:latin typeface="Microsoft YaHei"/>
                <a:ea typeface="Microsoft YaHei"/>
                <a:cs typeface="Microsoft YaHei"/>
              </a:rPr>
              <a:t>CAS / 中文名 / 英文名</a:t>
            </a:r>
          </a:p>
        </p:txBody>
      </p:sp>
      <p:sp>
        <p:nvSpPr>
          <p:cNvPr id="5" name="">
            <a:extLst xmlns:a="http://schemas.openxmlformats.org/drawingml/2006/main">
              <a:ext uri="{FF2B5EF4-FFF2-40B4-BE49-F238E27FC236}">
                <a16:creationId xmlns:a16="http://schemas.microsoft.com/office/drawing/2014/main" id="{7E849F34-4CF6-4AC2-8730-D5EE78BCA3C7}"/>
              </a:ext>
            </a:extLst>
          </p:cNvPr>
          <p:cNvSpPr>
            <a:spLocks xmlns:a="http://schemas.openxmlformats.org/drawingml/2006/main" noGrp="1"/>
          </p:cNvSpPr>
          <p:nvPr/>
        </p:nvSpPr>
        <p:spPr>
          <a:xfrm xmlns:a="http://schemas.openxmlformats.org/drawingml/2006/main">
            <a:off x="344805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理解</a:t>
            </a:r>
          </a:p>
        </p:txBody>
      </p:sp>
      <p:sp>
        <p:nvSpPr>
          <p:cNvPr id="6" name="">
            <a:extLst xmlns:a="http://schemas.openxmlformats.org/drawingml/2006/main">
              <a:ext uri="{FF2B5EF4-FFF2-40B4-BE49-F238E27FC236}">
                <a16:creationId xmlns:a16="http://schemas.microsoft.com/office/drawing/2014/main" id="{A9282865-888C-454B-B744-7CC086E27641}"/>
              </a:ext>
            </a:extLst>
          </p:cNvPr>
          <p:cNvSpPr>
            <a:spLocks xmlns:a="http://schemas.openxmlformats.org/drawingml/2006/main" noGrp="1"/>
          </p:cNvSpPr>
          <p:nvPr/>
        </p:nvSpPr>
        <p:spPr>
          <a:xfrm xmlns:a="http://schemas.openxmlformats.org/drawingml/2006/main">
            <a:off x="3448050" y="3333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FB0C9"/>
                </a:solidFill>
                <a:latin typeface="Microsoft YaHei"/>
                <a:ea typeface="Microsoft YaHei"/>
                <a:cs typeface="Microsoft YaHei"/>
              </a:defRPr>
            </a:pPr>
            <a:r>
              <a:rPr sz="1200" b="0">
                <a:solidFill>
                  <a:srgbClr val="9FB0C9"/>
                </a:solidFill>
                <a:latin typeface="Microsoft YaHei"/>
                <a:ea typeface="Microsoft YaHei"/>
                <a:cs typeface="Microsoft YaHei"/>
              </a:rPr>
              <a:t>阈值 · 风味 · 化学身份</a:t>
            </a:r>
          </a:p>
        </p:txBody>
      </p:sp>
      <p:sp>
        <p:nvSpPr>
          <p:cNvPr id="7" name="">
            <a:extLst xmlns:a="http://schemas.openxmlformats.org/drawingml/2006/main">
              <a:ext uri="{FF2B5EF4-FFF2-40B4-BE49-F238E27FC236}">
                <a16:creationId xmlns:a16="http://schemas.microsoft.com/office/drawing/2014/main" id="{53362D56-9659-496A-B2D8-9FDD42DE4798}"/>
              </a:ext>
            </a:extLst>
          </p:cNvPr>
          <p:cNvSpPr>
            <a:spLocks xmlns:a="http://schemas.openxmlformats.org/drawingml/2006/main" noGrp="1"/>
          </p:cNvSpPr>
          <p:nvPr/>
        </p:nvSpPr>
        <p:spPr>
          <a:xfrm xmlns:a="http://schemas.openxmlformats.org/drawingml/2006/main">
            <a:off x="621030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Microsoft YaHei"/>
                <a:ea typeface="Microsoft YaHei"/>
                <a:cs typeface="Microsoft YaHei"/>
              </a:defRPr>
            </a:pPr>
            <a:r>
              <a:rPr sz="1875" b="1">
                <a:solidFill>
                  <a:srgbClr val="FFFFFF"/>
                </a:solidFill>
                <a:latin typeface="Microsoft YaHei"/>
                <a:ea typeface="Microsoft YaHei"/>
                <a:cs typeface="Microsoft YaHei"/>
              </a:rPr>
              <a:t>核验</a:t>
            </a:r>
          </a:p>
        </p:txBody>
      </p:sp>
      <p:sp>
        <p:nvSpPr>
          <p:cNvPr id="8" name="">
            <a:extLst xmlns:a="http://schemas.openxmlformats.org/drawingml/2006/main">
              <a:ext uri="{FF2B5EF4-FFF2-40B4-BE49-F238E27FC236}">
                <a16:creationId xmlns:a16="http://schemas.microsoft.com/office/drawing/2014/main" id="{8204A9C7-9348-4ACB-84A8-5A10166B5738}"/>
              </a:ext>
            </a:extLst>
          </p:cNvPr>
          <p:cNvSpPr>
            <a:spLocks xmlns:a="http://schemas.openxmlformats.org/drawingml/2006/main" noGrp="1"/>
          </p:cNvSpPr>
          <p:nvPr/>
        </p:nvSpPr>
        <p:spPr>
          <a:xfrm xmlns:a="http://schemas.openxmlformats.org/drawingml/2006/main">
            <a:off x="6210300" y="3333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FB0C9"/>
                </a:solidFill>
                <a:latin typeface="Microsoft YaHei"/>
                <a:ea typeface="Microsoft YaHei"/>
                <a:cs typeface="Microsoft YaHei"/>
              </a:defRPr>
            </a:pPr>
            <a:r>
              <a:rPr sz="1200" b="0">
                <a:solidFill>
                  <a:srgbClr val="9FB0C9"/>
                </a:solidFill>
                <a:latin typeface="Microsoft YaHei"/>
                <a:ea typeface="Microsoft YaHei"/>
                <a:cs typeface="Microsoft YaHei"/>
              </a:rPr>
              <a:t>来源 · 页码 · 外部记录</a:t>
            </a:r>
          </a:p>
        </p:txBody>
      </p:sp>
      <p:sp>
        <p:nvSpPr>
          <p:cNvPr id="9" name="">
            <a:extLst xmlns:a="http://schemas.openxmlformats.org/drawingml/2006/main">
              <a:ext uri="{FF2B5EF4-FFF2-40B4-BE49-F238E27FC236}">
                <a16:creationId xmlns:a16="http://schemas.microsoft.com/office/drawing/2014/main" id="{A3CA2965-BBF0-485D-9FD9-864E2D62C507}"/>
              </a:ext>
            </a:extLst>
          </p:cNvPr>
          <p:cNvSpPr>
            <a:spLocks xmlns:a="http://schemas.openxmlformats.org/drawingml/2006/main" noGrp="1"/>
          </p:cNvSpPr>
          <p:nvPr/>
        </p:nvSpPr>
        <p:spPr>
          <a:xfrm xmlns:a="http://schemas.openxmlformats.org/drawingml/2006/main">
            <a:off x="897255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50BFD8"/>
                </a:solidFill>
                <a:latin typeface="Microsoft YaHei"/>
                <a:ea typeface="Microsoft YaHei"/>
                <a:cs typeface="Microsoft YaHei"/>
              </a:defRPr>
            </a:pPr>
            <a:r>
              <a:rPr sz="1875" b="1">
                <a:solidFill>
                  <a:srgbClr val="50BFD8"/>
                </a:solidFill>
                <a:latin typeface="Microsoft YaHei"/>
                <a:ea typeface="Microsoft YaHei"/>
                <a:cs typeface="Microsoft YaHei"/>
              </a:rPr>
              <a:t>复用</a:t>
            </a:r>
          </a:p>
        </p:txBody>
      </p:sp>
      <p:sp>
        <p:nvSpPr>
          <p:cNvPr id="10" name="">
            <a:extLst xmlns:a="http://schemas.openxmlformats.org/drawingml/2006/main">
              <a:ext uri="{FF2B5EF4-FFF2-40B4-BE49-F238E27FC236}">
                <a16:creationId xmlns:a16="http://schemas.microsoft.com/office/drawing/2014/main" id="{57A7D6E5-CB85-4206-B87A-F954FBC62A10}"/>
              </a:ext>
            </a:extLst>
          </p:cNvPr>
          <p:cNvSpPr>
            <a:spLocks xmlns:a="http://schemas.openxmlformats.org/drawingml/2006/main" noGrp="1"/>
          </p:cNvSpPr>
          <p:nvPr/>
        </p:nvSpPr>
        <p:spPr>
          <a:xfrm xmlns:a="http://schemas.openxmlformats.org/drawingml/2006/main">
            <a:off x="8972550" y="3333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FB0C9"/>
                </a:solidFill>
                <a:latin typeface="Microsoft YaHei"/>
                <a:ea typeface="Microsoft YaHei"/>
                <a:cs typeface="Microsoft YaHei"/>
              </a:defRPr>
            </a:pPr>
            <a:r>
              <a:rPr sz="1200" b="0">
                <a:solidFill>
                  <a:srgbClr val="9FB0C9"/>
                </a:solidFill>
                <a:latin typeface="Microsoft YaHei"/>
                <a:ea typeface="Microsoft YaHei"/>
                <a:cs typeface="Microsoft YaHei"/>
              </a:rPr>
              <a:t>精简与详细 CSV</a:t>
            </a:r>
          </a:p>
        </p:txBody>
      </p:sp>
      <p:sp>
        <p:nvSpPr>
          <p:cNvPr id="11" name="">
            <a:extLst xmlns:a="http://schemas.openxmlformats.org/drawingml/2006/main">
              <a:ext uri="{FF2B5EF4-FFF2-40B4-BE49-F238E27FC236}">
                <a16:creationId xmlns:a16="http://schemas.microsoft.com/office/drawing/2014/main" id="{AD86C18C-763E-4118-84FC-4422F71C6C4D}"/>
              </a:ext>
            </a:extLst>
          </p:cNvPr>
          <p:cNvSpPr>
            <a:spLocks xmlns:a="http://schemas.openxmlformats.org/drawingml/2006/main" noGrp="1"/>
          </p:cNvSpPr>
          <p:nvPr/>
        </p:nvSpPr>
        <p:spPr>
          <a:xfrm xmlns:a="http://schemas.openxmlformats.org/drawingml/2006/main">
            <a:off x="685800" y="4953000"/>
            <a:ext cx="5334000" cy="666750"/>
          </a:xfrm>
          <a:prstGeom xmlns:a="http://schemas.openxmlformats.org/drawingml/2006/main" prst="roundRect">
            <a:avLst>
              <a:gd name="adj" fmla="val 17143"/>
            </a:avLst>
          </a:prstGeom>
          <a:solidFill xmlns:a="http://schemas.openxmlformats.org/drawingml/2006/main">
            <a:srgbClr val="2F62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A82350-55B6-47FF-8732-B95582403B16}"/>
              </a:ext>
            </a:extLst>
          </p:cNvPr>
          <p:cNvSpPr>
            <a:spLocks xmlns:a="http://schemas.openxmlformats.org/drawingml/2006/main" noGrp="1"/>
          </p:cNvSpPr>
          <p:nvPr/>
        </p:nvSpPr>
        <p:spPr>
          <a:xfrm xmlns:a="http://schemas.openxmlformats.org/drawingml/2006/main">
            <a:off x="876300" y="50482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https://xqplayer.github.io/FlavorThresholdDB/</a:t>
            </a:r>
          </a:p>
        </p:txBody>
      </p:sp>
      <p:sp>
        <p:nvSpPr>
          <p:cNvPr id="13" name="">
            <a:extLst xmlns:a="http://schemas.openxmlformats.org/drawingml/2006/main">
              <a:ext uri="{FF2B5EF4-FFF2-40B4-BE49-F238E27FC236}">
                <a16:creationId xmlns:a16="http://schemas.microsoft.com/office/drawing/2014/main" id="{48D6B3C7-DF21-40C8-A9A2-791120805F6C}"/>
              </a:ext>
            </a:extLst>
          </p:cNvPr>
          <p:cNvSpPr>
            <a:spLocks xmlns:a="http://schemas.openxmlformats.org/drawingml/2006/main" noGrp="1"/>
          </p:cNvSpPr>
          <p:nvPr/>
        </p:nvSpPr>
        <p:spPr>
          <a:xfrm xmlns:a="http://schemas.openxmlformats.org/drawingml/2006/main">
            <a:off x="685800" y="6172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F92AE"/>
                </a:solidFill>
                <a:latin typeface="Aptos Display"/>
                <a:ea typeface="Aptos Display"/>
                <a:cs typeface="Aptos Display"/>
              </a:defRPr>
            </a:pPr>
            <a:r>
              <a:rPr sz="1050" b="1">
                <a:solidFill>
                  <a:srgbClr val="7F92AE"/>
                </a:solidFill>
                <a:latin typeface="Aptos Display"/>
                <a:ea typeface="Aptos Display"/>
                <a:cs typeface="Aptos Display"/>
              </a:rPr>
              <a:t>HXQLab · v1.3.1</a:t>
            </a:r>
          </a:p>
        </p:txBody>
      </p:sp>
    </p:spTree>
    <p:extLst>
      <p:ext uri="{BB962C8B-B14F-4D97-AF65-F5344CB8AC3E}">
        <p14:creationId xmlns:p14="http://schemas.microsoft.com/office/powerpoint/2010/main" val="20246055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2026-07-31T13:11:19.3770000Z</dcterms:created>
  <dcterms:modified xsi:type="dcterms:W3CDTF">2026-07-31T13:11:19.3770000Z</dcterms:modified>
</coreProperties>
</file>